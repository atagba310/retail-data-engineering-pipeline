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Je vais vous présenter mon projet de Data Engineering, réalisé pour l'entreprise fictive Lerouge Moulin. L'objectif était de construire une chaîne complète : de la modélisation des données jusqu'à un pipeline automatisé et déployé dans le cloud. Je vous propose de suivre ensemble ce fil conducteur, de la donnée brute jusqu'à la décision. Aucune animation sur cette diapositive : elle doit poser le ton, sobrement.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rouge de ma présentation, en sept étapes. Je pars du contexte métier et des données brutes, je passe par la modélisation Merise, le pipeline ETL et ses contrôles qualité, l'alimentation d'une base SQLite, la restitution avec Power BI, puis le déploiement cloud et son automatisation, pour terminer sur les résultats obtenus. Je garde ce schéma en tête : j'y reviendrai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minutes sur le point de départ. Lerouge Moulin est une entreprise de vente d'outillage — c'est notre cas d'étude. Le problème est classique en Data Engineering : les données existent, mais elles sont dispersées dans des fichiers hétérogènes, sans base commune ni automatisation. C'est ce vide que le projet vient combler.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s'appuie sur quatre fichiers sources : un fichier client au format XML, deux catalogues produits — l'un interne en euros, l'autre externe en dollars — et un fichier de transactions au format CSV, qui représente à lui seul plus de dix mille lignes de vente. C'est la matière première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carte d'ensemble du projet — je vais y revenir à la toute fin. Les données sources sont ingérées par un pipeline ETL développé en Python, qui alimente une base de données SQLite. Cette base est ensuite exploitée par un tableau de bord Power BI. L'ensemble tourne sur une instance Amazon EC2, avec une exécution automatisée chaque jour grâce à cron. Retenez ce schéma : chacune des diapositives qui suivent va zoomer sur l'une de ses briques.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première étape du projet a été la modélisation conceptuelle, selon la méthode Merise. Quatre entités structurent le domaine métier : CLIENT, PANIER, LIGNE_PANIER et PRODUIT, reliées par trois associations porteuses de cardinalités. Ce modèle est volontairement indépendant de toute technologie : il formalise le besoin métier avant de penser base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Logique de Données traduit cette réflexion conceptuelle dans le formalisme relationnel : les identifiants deviennent des clés primaires, les associations deviennent des clés étrangères. On obtient quatre tables prêtes à être implémentées : CLIENT, PANIER, LIGNE_PANIER et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point que je tiens à souligner : le catalogue produit provient de deux sources, l'une en euros, l'autre en dollars. Plutôt que d'appliquer un taux de change arbitraire — non fourni par l'énoncé — j'ai choisi de conserver les prix d'origine tels quels, en traçant la devise et l'origine de chaque produit dans deux attributs dédiés. C'est un choix d'ingénierie assumé : la traçabilité prime sur une approximation non maîtrisée.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technique du projet est un pipeline ETL développé en Python. Il charge les fichiers sources, applique les conversions de types et l'harmonisation structurelle du catalogue produit, exécute les contrôles de qualité, puis alimente la base SQLite. Ce pipeline est conçu comme un script unique et rejouable, ce qui garantit la reproductibilité de chaque exécution.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toute intégration en base, les données passent par une série de contrôles systématiques : complétude et unicité des identifiants, intégrité référentielle entre les tables, cohérence des montants calculés, et — nouveauté liée au catalogue produit — cohérence entre la devise et l'origine de chaque produit. Résultat : aucune anomalie bloquante sur l'ensemble du jeu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tables du modèle logique alimentent une base de données SQLite, recréée à l'identique à chaque exécution du pipeline. Des contraintes CHECK ont été ajoutées directement dans la base : validité de la devise, de l'origine du produit, positivité des prix, et cohérence entre l'origine et la devise. La qualité est ainsi garantie au niveau physique, pas seulement applicatif.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Quelques chiffres pour résumer le résultat du pipeline : 435 clients, 200 produits — dont 180 internes et 20 externes —, plus de dix mille trois cents lignes de vente, et surtout zéro anomalie bloquante détectée sur l'ensemble du jeu de données. La chaîne fonctionne de bout en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la base alimentée, les données sont valorisées dans un tableau de bord Power BI connecté directement à SQLite. On y retrouve le chiffre d'affaires total, le nombre de paniers et de clients, la quantité vendue, l'évolution du chiffre d'affaires, le top des produits vendus, la répartition des clients par sexe et par statut. Les deux segments — date et statut — filtrent l'ensemble des visuels instantanément.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a ensuite été déployé sur une instance Amazon EC2 sous Ubuntu. Le code, versionné sur GitHub, est récupéré par un simple git clone. Un environnement virtuel Python isole les dépendances du projet, installées depuis un fichier requirements.txt. Cette approche garantit que le code exécuté sur le serveur correspond exactement à la version validée en développement.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que le pipeline ne dépende plus d'un déclenchement manuel, une tâche cron a été configurée pour l'exécuter automatiquement chaque jour à deux heures du matin. Les sorties et les erreurs sont redirigées vers un fichier pipeline.log, ce qui conserve un historique complet des exécutions. Vous voyez ici un extrait réel du terminal, avec la configuration de la tâche planifiée sur l'instance.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revoici sur le schéma d'ensemble présenté au début. Chaque brique que nous avons parcourue — modélisation, pipeline ETL, contrôles qualité, base SQLite, tableau de bord Power BI, déploiement EC2 et automatisation cron — est aujourd'hui opérationnelle. Le projet couvre l'intégralité de la chaîne de valeur d'un projet de Data Engineering, de la conception du modèle jusqu'à l'exécution automatisée en environnement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pistes d'évolution pour la suite. D'abord Amazon S3, pour centraliser le stockage des fichiers sources et des exports, plutôt qu'un stockage local à l'instance. Ensuite, des modèles de prévision des ventes appuyés sur l'historique désormais disponible. Enfin, un passage à un traitement en flux plutôt qu'en exécution quotidienne. Aucune de ces pistes n'a été mise en œuvre dans cette version : ce sont des perspectives, pas des réalisations.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maintenant à votre disposition pour répondre à vos questions, que ce soit sur les choix de modélisation, les contrôles de qualité, le déploiement cloud, ou toute autre partie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9692640" y="-457200"/>
            <a:ext cx="2834640" cy="2834640"/>
          </a:xfrm>
          <a:prstGeom prst="ellipse">
            <a:avLst/>
          </a:prstGeom>
          <a:ln w="15875">
            <a:solidFill>
              <a:srgbClr val="3D6FA5">
                <a:alpha val="55000"/>
              </a:srgbClr>
            </a:solidFill>
            <a:prstDash val="solid"/>
          </a:ln>
        </p:spPr>
      </p:sp>
      <p:sp>
        <p:nvSpPr>
          <p:cNvPr id="3" name="Shape 1"/>
          <p:cNvSpPr/>
          <p:nvPr/>
        </p:nvSpPr>
        <p:spPr>
          <a:xfrm>
            <a:off x="10149840" y="0"/>
            <a:ext cx="1920240" cy="1920240"/>
          </a:xfrm>
          <a:prstGeom prst="ellipse">
            <a:avLst/>
          </a:prstGeom>
          <a:ln w="15875">
            <a:solidFill>
              <a:srgbClr val="3D6FA5">
                <a:alpha val="55000"/>
              </a:srgbClr>
            </a:solidFill>
            <a:prstDash val="solid"/>
          </a:ln>
        </p:spPr>
      </p:sp>
      <p:sp>
        <p:nvSpPr>
          <p:cNvPr id="4" name="Shape 2"/>
          <p:cNvSpPr/>
          <p:nvPr/>
        </p:nvSpPr>
        <p:spPr>
          <a:xfrm>
            <a:off x="10561320" y="411480"/>
            <a:ext cx="1097280" cy="1097280"/>
          </a:xfrm>
          <a:prstGeom prst="ellipse">
            <a:avLst/>
          </a:prstGeom>
          <a:ln w="15875">
            <a:solidFill>
              <a:srgbClr val="3D6FA5">
                <a:alpha val="55000"/>
              </a:srgbClr>
            </a:solidFill>
            <a:prstDash val="solid"/>
          </a:ln>
        </p:spPr>
      </p:sp>
      <p:sp>
        <p:nvSpPr>
          <p:cNvPr id="5" name="Text 3"/>
          <p:cNvSpPr/>
          <p:nvPr/>
        </p:nvSpPr>
        <p:spPr>
          <a:xfrm>
            <a:off x="822960" y="2286000"/>
            <a:ext cx="9144000" cy="822960"/>
          </a:xfrm>
          <a:prstGeom prst="rect">
            <a:avLst/>
          </a:prstGeom>
          <a:noFill/>
          <a:ln/>
        </p:spPr>
        <p:txBody>
          <a:bodyPr wrap="square" rtlCol="0" anchor="ctr"/>
          <a:lstStyle/>
          <a:p>
            <a:pPr indent="0" marL="0">
              <a:buNone/>
            </a:pPr>
            <a:r>
              <a:rPr lang="en-US" sz="4400" b="1" spc="200" kern="0" dirty="0">
                <a:solidFill>
                  <a:srgbClr val="FFFFFF"/>
                </a:solidFill>
                <a:latin typeface="Calibri" pitchFamily="34" charset="0"/>
                <a:ea typeface="Calibri" pitchFamily="34" charset="-122"/>
                <a:cs typeface="Calibri" pitchFamily="34" charset="-120"/>
              </a:rPr>
              <a:t>LEROUGE MOULIN</a:t>
            </a:r>
            <a:endParaRPr lang="en-US" sz="4400" dirty="0"/>
          </a:p>
        </p:txBody>
      </p:sp>
      <p:sp>
        <p:nvSpPr>
          <p:cNvPr id="6" name="Text 4"/>
          <p:cNvSpPr/>
          <p:nvPr/>
        </p:nvSpPr>
        <p:spPr>
          <a:xfrm>
            <a:off x="822960" y="3127248"/>
            <a:ext cx="8869680" cy="502920"/>
          </a:xfrm>
          <a:prstGeom prst="rect">
            <a:avLst/>
          </a:prstGeom>
          <a:noFill/>
          <a:ln/>
        </p:spPr>
        <p:txBody>
          <a:bodyPr wrap="square" rtlCol="0" anchor="ctr"/>
          <a:lstStyle/>
          <a:p>
            <a:pPr indent="0" marL="0">
              <a:buNone/>
            </a:pPr>
            <a:r>
              <a:rPr lang="en-US" sz="1900" dirty="0">
                <a:solidFill>
                  <a:srgbClr val="DCE7F2"/>
                </a:solidFill>
                <a:latin typeface="Calibri" pitchFamily="34" charset="0"/>
                <a:ea typeface="Calibri" pitchFamily="34" charset="-122"/>
                <a:cs typeface="Calibri" pitchFamily="34" charset="-120"/>
              </a:rPr>
              <a:t>De la modélisation des données au pipeline cloud automatisé</a:t>
            </a:r>
            <a:endParaRPr lang="en-US" sz="1900" dirty="0"/>
          </a:p>
        </p:txBody>
      </p:sp>
      <p:sp>
        <p:nvSpPr>
          <p:cNvPr id="7" name="Text 5"/>
          <p:cNvSpPr/>
          <p:nvPr/>
        </p:nvSpPr>
        <p:spPr>
          <a:xfrm>
            <a:off x="822960" y="3749040"/>
            <a:ext cx="8869680" cy="365760"/>
          </a:xfrm>
          <a:prstGeom prst="rect">
            <a:avLst/>
          </a:prstGeom>
          <a:noFill/>
          <a:ln/>
        </p:spPr>
        <p:txBody>
          <a:bodyPr wrap="square" rtlCol="0" anchor="ctr"/>
          <a:lstStyle/>
          <a:p>
            <a:pPr indent="0" marL="0">
              <a:buNone/>
            </a:pPr>
            <a:r>
              <a:rPr lang="en-US" sz="1250" b="1" spc="120" kern="0" dirty="0">
                <a:solidFill>
                  <a:srgbClr val="3D6FA5"/>
                </a:solidFill>
                <a:latin typeface="Calibri" pitchFamily="34" charset="0"/>
                <a:ea typeface="Calibri" pitchFamily="34" charset="-122"/>
                <a:cs typeface="Calibri" pitchFamily="34" charset="-120"/>
              </a:rPr>
              <a:t>SOUTENANCE DE PROJET   •   MASTER DATA ENGINEERING</a:t>
            </a:r>
            <a:endParaRPr lang="en-US" sz="1250" dirty="0"/>
          </a:p>
        </p:txBody>
      </p:sp>
      <p:sp>
        <p:nvSpPr>
          <p:cNvPr id="8" name="Shape 6"/>
          <p:cNvSpPr/>
          <p:nvPr/>
        </p:nvSpPr>
        <p:spPr>
          <a:xfrm>
            <a:off x="868680" y="5760720"/>
            <a:ext cx="2103120" cy="0"/>
          </a:xfrm>
          <a:prstGeom prst="line">
            <a:avLst/>
          </a:prstGeom>
          <a:noFill/>
          <a:ln w="19050">
            <a:solidFill>
              <a:srgbClr val="3D6FA5"/>
            </a:solidFill>
            <a:prstDash val="solid"/>
          </a:ln>
        </p:spPr>
      </p:sp>
      <p:sp>
        <p:nvSpPr>
          <p:cNvPr id="9" name="Text 7"/>
          <p:cNvSpPr/>
          <p:nvPr/>
        </p:nvSpPr>
        <p:spPr>
          <a:xfrm>
            <a:off x="822960" y="5870448"/>
            <a:ext cx="5486400" cy="3200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TAGBA ABIDE</a:t>
            </a:r>
            <a:endParaRPr lang="en-US" sz="1300" dirty="0"/>
          </a:p>
        </p:txBody>
      </p:sp>
      <p:sp>
        <p:nvSpPr>
          <p:cNvPr id="10" name="Text 8"/>
          <p:cNvSpPr/>
          <p:nvPr/>
        </p:nvSpPr>
        <p:spPr>
          <a:xfrm>
            <a:off x="822960" y="6172200"/>
            <a:ext cx="5486400" cy="274320"/>
          </a:xfrm>
          <a:prstGeom prst="rect">
            <a:avLst/>
          </a:prstGeom>
          <a:noFill/>
          <a:ln/>
        </p:spPr>
        <p:txBody>
          <a:bodyPr wrap="square" rtlCol="0" anchor="ctr"/>
          <a:lstStyle/>
          <a:p>
            <a:pPr indent="0" marL="0">
              <a:buNone/>
            </a:pPr>
            <a:r>
              <a:rPr lang="en-US" sz="1100" dirty="0">
                <a:solidFill>
                  <a:srgbClr val="9FB3CC"/>
                </a:solidFill>
                <a:latin typeface="Calibri" pitchFamily="34" charset="0"/>
                <a:ea typeface="Calibri" pitchFamily="34" charset="-122"/>
                <a:cs typeface="Calibri" pitchFamily="34" charset="-120"/>
              </a:rPr>
              <a:t>Juillet 2026</a:t>
            </a:r>
            <a:endParaRPr lang="en-US" sz="1100" dirty="0"/>
          </a:p>
        </p:txBody>
      </p:sp>
      <p:sp>
        <p:nvSpPr>
          <p:cNvPr id="11" name="Shape 9"/>
          <p:cNvSpPr/>
          <p:nvPr/>
        </p:nvSpPr>
        <p:spPr>
          <a:xfrm>
            <a:off x="9418320" y="2331720"/>
            <a:ext cx="1874520" cy="1874520"/>
          </a:xfrm>
          <a:prstGeom prst="ellipse">
            <a:avLst/>
          </a:prstGeom>
          <a:solidFill>
            <a:srgbClr val="3D6FA5"/>
          </a:solidFill>
          <a:ln/>
        </p:spPr>
      </p:sp>
      <p:pic>
        <p:nvPicPr>
          <p:cNvPr id="12" name="Image 0" descr="icons/route.png">    </p:cNvPr>
          <p:cNvPicPr>
            <a:picLocks noChangeAspect="1"/>
          </p:cNvPicPr>
          <p:nvPr/>
        </p:nvPicPr>
        <p:blipFill>
          <a:blip r:embed="rId1"/>
          <a:stretch>
            <a:fillRect/>
          </a:stretch>
        </p:blipFill>
        <p:spPr>
          <a:xfrm>
            <a:off x="9886950" y="2800350"/>
            <a:ext cx="937260" cy="9372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Le fil rouge du projet</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1243584" y="3300984"/>
            <a:ext cx="9720072" cy="0"/>
          </a:xfrm>
          <a:prstGeom prst="line">
            <a:avLst/>
          </a:prstGeom>
          <a:noFill/>
          <a:ln w="25400">
            <a:solidFill>
              <a:srgbClr val="D8E2EC"/>
            </a:solidFill>
            <a:prstDash val="solid"/>
          </a:ln>
        </p:spPr>
      </p:sp>
      <p:sp>
        <p:nvSpPr>
          <p:cNvPr id="6" name="Shape 4"/>
          <p:cNvSpPr/>
          <p:nvPr/>
        </p:nvSpPr>
        <p:spPr>
          <a:xfrm>
            <a:off x="960120" y="3017520"/>
            <a:ext cx="566928" cy="566928"/>
          </a:xfrm>
          <a:prstGeom prst="ellipse">
            <a:avLst/>
          </a:prstGeom>
          <a:solidFill>
            <a:srgbClr val="1F3A5F"/>
          </a:solidFill>
          <a:ln/>
        </p:spPr>
      </p:sp>
      <p:sp>
        <p:nvSpPr>
          <p:cNvPr id="7" name="Text 5"/>
          <p:cNvSpPr/>
          <p:nvPr/>
        </p:nvSpPr>
        <p:spPr>
          <a:xfrm>
            <a:off x="960120" y="30175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502920" y="3749040"/>
            <a:ext cx="1481328" cy="685800"/>
          </a:xfrm>
          <a:prstGeom prst="rect">
            <a:avLst/>
          </a:prstGeom>
          <a:noFill/>
          <a:ln/>
        </p:spPr>
        <p:txBody>
          <a:bodyPr wrap="square"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Contexte &amp;</a:t>
            </a:r>
            <a:endParaRPr lang="en-US" sz="1200" dirty="0"/>
          </a:p>
          <a:p>
            <a:pPr algn="ctr" indent="0" marL="0">
              <a:buNone/>
            </a:pPr>
            <a:r>
              <a:rPr lang="en-US" sz="1200" b="1" dirty="0">
                <a:solidFill>
                  <a:srgbClr val="1F3A5F"/>
                </a:solidFill>
                <a:latin typeface="Calibri" pitchFamily="34" charset="0"/>
                <a:ea typeface="Calibri" pitchFamily="34" charset="-122"/>
                <a:cs typeface="Calibri" pitchFamily="34" charset="-120"/>
              </a:rPr>
              <a:t>données</a:t>
            </a:r>
            <a:endParaRPr lang="en-US" sz="1200" dirty="0"/>
          </a:p>
        </p:txBody>
      </p:sp>
      <p:sp>
        <p:nvSpPr>
          <p:cNvPr id="9" name="Shape 7"/>
          <p:cNvSpPr/>
          <p:nvPr/>
        </p:nvSpPr>
        <p:spPr>
          <a:xfrm>
            <a:off x="2580132" y="3017520"/>
            <a:ext cx="566928" cy="566928"/>
          </a:xfrm>
          <a:prstGeom prst="ellipse">
            <a:avLst/>
          </a:prstGeom>
          <a:solidFill>
            <a:srgbClr val="1F3A5F"/>
          </a:solidFill>
          <a:ln/>
        </p:spPr>
      </p:sp>
      <p:sp>
        <p:nvSpPr>
          <p:cNvPr id="10" name="Text 8"/>
          <p:cNvSpPr/>
          <p:nvPr/>
        </p:nvSpPr>
        <p:spPr>
          <a:xfrm>
            <a:off x="2580132" y="30175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2122932" y="3749040"/>
            <a:ext cx="1481328" cy="685800"/>
          </a:xfrm>
          <a:prstGeom prst="rect">
            <a:avLst/>
          </a:prstGeom>
          <a:noFill/>
          <a:ln/>
        </p:spPr>
        <p:txBody>
          <a:bodyPr wrap="square"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Modélisation</a:t>
            </a:r>
            <a:endParaRPr lang="en-US" sz="1200" dirty="0"/>
          </a:p>
          <a:p>
            <a:pPr algn="ctr" indent="0" marL="0">
              <a:buNone/>
            </a:pPr>
            <a:r>
              <a:rPr lang="en-US" sz="1200" b="1" dirty="0">
                <a:solidFill>
                  <a:srgbClr val="1F3A5F"/>
                </a:solidFill>
                <a:latin typeface="Calibri" pitchFamily="34" charset="0"/>
                <a:ea typeface="Calibri" pitchFamily="34" charset="-122"/>
                <a:cs typeface="Calibri" pitchFamily="34" charset="-120"/>
              </a:rPr>
              <a:t>Merise</a:t>
            </a:r>
            <a:endParaRPr lang="en-US" sz="1200" dirty="0"/>
          </a:p>
        </p:txBody>
      </p:sp>
      <p:sp>
        <p:nvSpPr>
          <p:cNvPr id="12" name="Shape 10"/>
          <p:cNvSpPr/>
          <p:nvPr/>
        </p:nvSpPr>
        <p:spPr>
          <a:xfrm>
            <a:off x="4200144" y="3017520"/>
            <a:ext cx="566928" cy="566928"/>
          </a:xfrm>
          <a:prstGeom prst="ellipse">
            <a:avLst/>
          </a:prstGeom>
          <a:solidFill>
            <a:srgbClr val="1F3A5F"/>
          </a:solidFill>
          <a:ln/>
        </p:spPr>
      </p:sp>
      <p:sp>
        <p:nvSpPr>
          <p:cNvPr id="13" name="Text 11"/>
          <p:cNvSpPr/>
          <p:nvPr/>
        </p:nvSpPr>
        <p:spPr>
          <a:xfrm>
            <a:off x="4200144" y="30175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3742944" y="3749040"/>
            <a:ext cx="1481328" cy="685800"/>
          </a:xfrm>
          <a:prstGeom prst="rect">
            <a:avLst/>
          </a:prstGeom>
          <a:noFill/>
          <a:ln/>
        </p:spPr>
        <p:txBody>
          <a:bodyPr wrap="square"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Pipeline ETL</a:t>
            </a:r>
            <a:endParaRPr lang="en-US" sz="1200" dirty="0"/>
          </a:p>
          <a:p>
            <a:pPr algn="ctr" indent="0" marL="0">
              <a:buNone/>
            </a:pPr>
            <a:r>
              <a:rPr lang="en-US" sz="1200" b="1" dirty="0">
                <a:solidFill>
                  <a:srgbClr val="1F3A5F"/>
                </a:solidFill>
                <a:latin typeface="Calibri" pitchFamily="34" charset="0"/>
                <a:ea typeface="Calibri" pitchFamily="34" charset="-122"/>
                <a:cs typeface="Calibri" pitchFamily="34" charset="-120"/>
              </a:rPr>
              <a:t>&amp; qualité</a:t>
            </a:r>
            <a:endParaRPr lang="en-US" sz="1200" dirty="0"/>
          </a:p>
        </p:txBody>
      </p:sp>
      <p:sp>
        <p:nvSpPr>
          <p:cNvPr id="15" name="Shape 13"/>
          <p:cNvSpPr/>
          <p:nvPr/>
        </p:nvSpPr>
        <p:spPr>
          <a:xfrm>
            <a:off x="5820156" y="3017520"/>
            <a:ext cx="566928" cy="566928"/>
          </a:xfrm>
          <a:prstGeom prst="ellipse">
            <a:avLst/>
          </a:prstGeom>
          <a:solidFill>
            <a:srgbClr val="1F3A5F"/>
          </a:solidFill>
          <a:ln/>
        </p:spPr>
      </p:sp>
      <p:sp>
        <p:nvSpPr>
          <p:cNvPr id="16" name="Text 14"/>
          <p:cNvSpPr/>
          <p:nvPr/>
        </p:nvSpPr>
        <p:spPr>
          <a:xfrm>
            <a:off x="5820156" y="30175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Text 15"/>
          <p:cNvSpPr/>
          <p:nvPr/>
        </p:nvSpPr>
        <p:spPr>
          <a:xfrm>
            <a:off x="5362956" y="3749040"/>
            <a:ext cx="1481328" cy="685800"/>
          </a:xfrm>
          <a:prstGeom prst="rect">
            <a:avLst/>
          </a:prstGeom>
          <a:noFill/>
          <a:ln/>
        </p:spPr>
        <p:txBody>
          <a:bodyPr wrap="square"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Base</a:t>
            </a:r>
            <a:endParaRPr lang="en-US" sz="1200" dirty="0"/>
          </a:p>
          <a:p>
            <a:pPr algn="ctr" indent="0" marL="0">
              <a:buNone/>
            </a:pPr>
            <a:r>
              <a:rPr lang="en-US" sz="1200" b="1" dirty="0">
                <a:solidFill>
                  <a:srgbClr val="1F3A5F"/>
                </a:solidFill>
                <a:latin typeface="Calibri" pitchFamily="34" charset="0"/>
                <a:ea typeface="Calibri" pitchFamily="34" charset="-122"/>
                <a:cs typeface="Calibri" pitchFamily="34" charset="-120"/>
              </a:rPr>
              <a:t>SQLite</a:t>
            </a:r>
            <a:endParaRPr lang="en-US" sz="1200" dirty="0"/>
          </a:p>
        </p:txBody>
      </p:sp>
      <p:sp>
        <p:nvSpPr>
          <p:cNvPr id="18" name="Shape 16"/>
          <p:cNvSpPr/>
          <p:nvPr/>
        </p:nvSpPr>
        <p:spPr>
          <a:xfrm>
            <a:off x="7440168" y="3017520"/>
            <a:ext cx="566928" cy="566928"/>
          </a:xfrm>
          <a:prstGeom prst="ellipse">
            <a:avLst/>
          </a:prstGeom>
          <a:solidFill>
            <a:srgbClr val="1F3A5F"/>
          </a:solidFill>
          <a:ln/>
        </p:spPr>
      </p:sp>
      <p:sp>
        <p:nvSpPr>
          <p:cNvPr id="19" name="Text 17"/>
          <p:cNvSpPr/>
          <p:nvPr/>
        </p:nvSpPr>
        <p:spPr>
          <a:xfrm>
            <a:off x="7440168" y="30175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0" name="Text 18"/>
          <p:cNvSpPr/>
          <p:nvPr/>
        </p:nvSpPr>
        <p:spPr>
          <a:xfrm>
            <a:off x="6982968" y="3749040"/>
            <a:ext cx="1481328" cy="685800"/>
          </a:xfrm>
          <a:prstGeom prst="rect">
            <a:avLst/>
          </a:prstGeom>
          <a:noFill/>
          <a:ln/>
        </p:spPr>
        <p:txBody>
          <a:bodyPr wrap="square"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Power BI</a:t>
            </a:r>
            <a:endParaRPr lang="en-US" sz="1200" dirty="0"/>
          </a:p>
        </p:txBody>
      </p:sp>
      <p:sp>
        <p:nvSpPr>
          <p:cNvPr id="21" name="Shape 19"/>
          <p:cNvSpPr/>
          <p:nvPr/>
        </p:nvSpPr>
        <p:spPr>
          <a:xfrm>
            <a:off x="9060180" y="3017520"/>
            <a:ext cx="566928" cy="566928"/>
          </a:xfrm>
          <a:prstGeom prst="ellipse">
            <a:avLst/>
          </a:prstGeom>
          <a:solidFill>
            <a:srgbClr val="1F3A5F"/>
          </a:solidFill>
          <a:ln/>
        </p:spPr>
      </p:sp>
      <p:sp>
        <p:nvSpPr>
          <p:cNvPr id="22" name="Text 20"/>
          <p:cNvSpPr/>
          <p:nvPr/>
        </p:nvSpPr>
        <p:spPr>
          <a:xfrm>
            <a:off x="9060180" y="30175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3" name="Text 21"/>
          <p:cNvSpPr/>
          <p:nvPr/>
        </p:nvSpPr>
        <p:spPr>
          <a:xfrm>
            <a:off x="8602980" y="3749040"/>
            <a:ext cx="1481328" cy="685800"/>
          </a:xfrm>
          <a:prstGeom prst="rect">
            <a:avLst/>
          </a:prstGeom>
          <a:noFill/>
          <a:ln/>
        </p:spPr>
        <p:txBody>
          <a:bodyPr wrap="square"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Cloud &amp;</a:t>
            </a:r>
            <a:endParaRPr lang="en-US" sz="1200" dirty="0"/>
          </a:p>
          <a:p>
            <a:pPr algn="ctr" indent="0" marL="0">
              <a:buNone/>
            </a:pPr>
            <a:r>
              <a:rPr lang="en-US" sz="1200" b="1" dirty="0">
                <a:solidFill>
                  <a:srgbClr val="1F3A5F"/>
                </a:solidFill>
                <a:latin typeface="Calibri" pitchFamily="34" charset="0"/>
                <a:ea typeface="Calibri" pitchFamily="34" charset="-122"/>
                <a:cs typeface="Calibri" pitchFamily="34" charset="-120"/>
              </a:rPr>
              <a:t>automatisation</a:t>
            </a:r>
            <a:endParaRPr lang="en-US" sz="1200" dirty="0"/>
          </a:p>
        </p:txBody>
      </p:sp>
      <p:sp>
        <p:nvSpPr>
          <p:cNvPr id="24" name="Shape 22"/>
          <p:cNvSpPr/>
          <p:nvPr/>
        </p:nvSpPr>
        <p:spPr>
          <a:xfrm>
            <a:off x="10680192" y="3017520"/>
            <a:ext cx="566928" cy="566928"/>
          </a:xfrm>
          <a:prstGeom prst="ellipse">
            <a:avLst/>
          </a:prstGeom>
          <a:solidFill>
            <a:srgbClr val="1F3A5F"/>
          </a:solidFill>
          <a:ln/>
        </p:spPr>
      </p:sp>
      <p:sp>
        <p:nvSpPr>
          <p:cNvPr id="25" name="Text 23"/>
          <p:cNvSpPr/>
          <p:nvPr/>
        </p:nvSpPr>
        <p:spPr>
          <a:xfrm>
            <a:off x="10680192" y="30175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26" name="Text 24"/>
          <p:cNvSpPr/>
          <p:nvPr/>
        </p:nvSpPr>
        <p:spPr>
          <a:xfrm>
            <a:off x="10222992" y="3749040"/>
            <a:ext cx="1481328" cy="685800"/>
          </a:xfrm>
          <a:prstGeom prst="rect">
            <a:avLst/>
          </a:prstGeom>
          <a:noFill/>
          <a:ln/>
        </p:spPr>
        <p:txBody>
          <a:bodyPr wrap="square"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Résultats</a:t>
            </a:r>
            <a:endParaRPr lang="en-US" sz="1200" dirty="0"/>
          </a:p>
        </p:txBody>
      </p:sp>
      <p:sp>
        <p:nvSpPr>
          <p:cNvPr id="27" name="Shape 25"/>
          <p:cNvSpPr/>
          <p:nvPr/>
        </p:nvSpPr>
        <p:spPr>
          <a:xfrm>
            <a:off x="960120" y="4892040"/>
            <a:ext cx="10287000" cy="1051560"/>
          </a:xfrm>
          <a:prstGeom prst="roundRect">
            <a:avLst>
              <a:gd name="adj" fmla="val 8696"/>
            </a:avLst>
          </a:prstGeom>
          <a:solidFill>
            <a:srgbClr val="F5F8FB"/>
          </a:solidFill>
          <a:ln/>
          <a:effectLst>
            <a:outerShdw sx="100000" sy="100000" kx="0" ky="0" algn="bl" rotWithShape="0" blurRad="114300" dist="25400" dir="5400000">
              <a:srgbClr val="1F3A5F">
                <a:alpha val="14000"/>
              </a:srgbClr>
            </a:outerShdw>
          </a:effectLst>
        </p:spPr>
      </p:sp>
      <p:sp>
        <p:nvSpPr>
          <p:cNvPr id="28" name="Text 26"/>
          <p:cNvSpPr/>
          <p:nvPr/>
        </p:nvSpPr>
        <p:spPr>
          <a:xfrm>
            <a:off x="1280160" y="5138928"/>
            <a:ext cx="9692640" cy="640080"/>
          </a:xfrm>
          <a:prstGeom prst="rect">
            <a:avLst/>
          </a:prstGeom>
          <a:noFill/>
          <a:ln/>
        </p:spPr>
        <p:txBody>
          <a:bodyPr wrap="square" rtlCol="0" anchor="t"/>
          <a:lstStyle/>
          <a:p>
            <a:pPr algn="ctr" indent="0" marL="0">
              <a:buNone/>
            </a:pPr>
            <a:r>
              <a:rPr lang="en-US" sz="1500" i="1" dirty="0">
                <a:solidFill>
                  <a:srgbClr val="5A6B7D"/>
                </a:solidFill>
                <a:latin typeface="Calibri" pitchFamily="34" charset="0"/>
                <a:ea typeface="Calibri" pitchFamily="34" charset="-122"/>
                <a:cs typeface="Calibri" pitchFamily="34" charset="-120"/>
              </a:rPr>
              <a:t>Une histoire en sept étapes : de la donnée brute dispersée à un tableau de bord alimenté chaque nuit, sans intervention humaine.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D'où part-on ?</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640080" y="1508760"/>
            <a:ext cx="5212080" cy="4480560"/>
          </a:xfrm>
          <a:prstGeom prst="roundRect">
            <a:avLst>
              <a:gd name="adj" fmla="val 2041"/>
            </a:avLst>
          </a:prstGeom>
          <a:solidFill>
            <a:srgbClr val="F5F8FB"/>
          </a:solidFill>
          <a:ln/>
          <a:effectLst>
            <a:outerShdw sx="100000" sy="100000" kx="0" ky="0" algn="bl" rotWithShape="0" blurRad="114300" dist="25400" dir="5400000">
              <a:srgbClr val="1F3A5F">
                <a:alpha val="14000"/>
              </a:srgbClr>
            </a:outerShdw>
          </a:effectLst>
        </p:spPr>
      </p:sp>
      <p:sp>
        <p:nvSpPr>
          <p:cNvPr id="6" name="Shape 4"/>
          <p:cNvSpPr/>
          <p:nvPr/>
        </p:nvSpPr>
        <p:spPr>
          <a:xfrm>
            <a:off x="1005840" y="1874520"/>
            <a:ext cx="822960" cy="822960"/>
          </a:xfrm>
          <a:prstGeom prst="ellipse">
            <a:avLst/>
          </a:prstGeom>
          <a:solidFill>
            <a:srgbClr val="DCE7F2"/>
          </a:solidFill>
          <a:ln/>
        </p:spPr>
      </p:sp>
      <p:pic>
        <p:nvPicPr>
          <p:cNvPr id="7" name="Image 0" descr="icons/hammer.png">    </p:cNvPr>
          <p:cNvPicPr>
            <a:picLocks noChangeAspect="1"/>
          </p:cNvPicPr>
          <p:nvPr/>
        </p:nvPicPr>
        <p:blipFill>
          <a:blip r:embed="rId1"/>
          <a:stretch>
            <a:fillRect/>
          </a:stretch>
        </p:blipFill>
        <p:spPr>
          <a:xfrm>
            <a:off x="1186891" y="2055571"/>
            <a:ext cx="460858" cy="460858"/>
          </a:xfrm>
          <a:prstGeom prst="rect">
            <a:avLst/>
          </a:prstGeom>
        </p:spPr>
      </p:pic>
      <p:sp>
        <p:nvSpPr>
          <p:cNvPr id="8" name="Text 5"/>
          <p:cNvSpPr/>
          <p:nvPr/>
        </p:nvSpPr>
        <p:spPr>
          <a:xfrm>
            <a:off x="2011680" y="2011680"/>
            <a:ext cx="3657600" cy="457200"/>
          </a:xfrm>
          <a:prstGeom prst="rect">
            <a:avLst/>
          </a:prstGeom>
          <a:noFill/>
          <a:ln/>
        </p:spPr>
        <p:txBody>
          <a:bodyPr wrap="square" rtlCol="0" anchor="t"/>
          <a:lstStyle/>
          <a:p>
            <a:pPr algn="l" indent="0" marL="0">
              <a:buNone/>
            </a:pPr>
            <a:r>
              <a:rPr lang="en-US" sz="2100" b="1" dirty="0">
                <a:solidFill>
                  <a:srgbClr val="1F3A5F"/>
                </a:solidFill>
                <a:latin typeface="Calibri" pitchFamily="34" charset="0"/>
                <a:ea typeface="Calibri" pitchFamily="34" charset="-122"/>
                <a:cs typeface="Calibri" pitchFamily="34" charset="-120"/>
              </a:rPr>
              <a:t>Contexte</a:t>
            </a:r>
            <a:endParaRPr lang="en-US" sz="2100" dirty="0"/>
          </a:p>
        </p:txBody>
      </p:sp>
      <p:sp>
        <p:nvSpPr>
          <p:cNvPr id="9" name="Text 6"/>
          <p:cNvSpPr/>
          <p:nvPr/>
        </p:nvSpPr>
        <p:spPr>
          <a:xfrm>
            <a:off x="1005840" y="2880360"/>
            <a:ext cx="4480560" cy="1828800"/>
          </a:xfrm>
          <a:prstGeom prst="rect">
            <a:avLst/>
          </a:prstGeom>
          <a:noFill/>
          <a:ln/>
        </p:spPr>
        <p:txBody>
          <a:bodyPr wrap="square" rtlCol="0" anchor="t"/>
          <a:lstStyle/>
          <a:p>
            <a:pPr algn="l" indent="0" marL="0">
              <a:buNone/>
            </a:pPr>
            <a:r>
              <a:rPr lang="en-US" sz="1500" dirty="0">
                <a:solidFill>
                  <a:srgbClr val="5A6B7D"/>
                </a:solidFill>
                <a:latin typeface="Calibri" pitchFamily="34" charset="0"/>
                <a:ea typeface="Calibri" pitchFamily="34" charset="-122"/>
                <a:cs typeface="Calibri" pitchFamily="34" charset="-120"/>
              </a:rPr>
              <a:t>Lerouge Moulin, une entreprise de vente d'outillage, souhaite professionnaliser le pilotage de son activité commerciale.</a:t>
            </a:r>
            <a:endParaRPr lang="en-US" sz="1500" dirty="0"/>
          </a:p>
        </p:txBody>
      </p:sp>
      <p:sp>
        <p:nvSpPr>
          <p:cNvPr id="10" name="Shape 7"/>
          <p:cNvSpPr/>
          <p:nvPr/>
        </p:nvSpPr>
        <p:spPr>
          <a:xfrm>
            <a:off x="6309360" y="1508760"/>
            <a:ext cx="5212080" cy="4480560"/>
          </a:xfrm>
          <a:prstGeom prst="roundRect">
            <a:avLst>
              <a:gd name="adj" fmla="val 2041"/>
            </a:avLst>
          </a:prstGeom>
          <a:solidFill>
            <a:srgbClr val="F5F8FB"/>
          </a:solidFill>
          <a:ln/>
          <a:effectLst>
            <a:outerShdw sx="100000" sy="100000" kx="0" ky="0" algn="bl" rotWithShape="0" blurRad="114300" dist="25400" dir="5400000">
              <a:srgbClr val="1F3A5F">
                <a:alpha val="14000"/>
              </a:srgbClr>
            </a:outerShdw>
          </a:effectLst>
        </p:spPr>
      </p:sp>
      <p:sp>
        <p:nvSpPr>
          <p:cNvPr id="11" name="Shape 8"/>
          <p:cNvSpPr/>
          <p:nvPr/>
        </p:nvSpPr>
        <p:spPr>
          <a:xfrm>
            <a:off x="6675120" y="1874520"/>
            <a:ext cx="822960" cy="822960"/>
          </a:xfrm>
          <a:prstGeom prst="ellipse">
            <a:avLst/>
          </a:prstGeom>
          <a:solidFill>
            <a:srgbClr val="DCE7F2"/>
          </a:solidFill>
          <a:ln/>
        </p:spPr>
      </p:sp>
      <p:pic>
        <p:nvPicPr>
          <p:cNvPr id="12" name="Image 1" descr="icons/question.png">    </p:cNvPr>
          <p:cNvPicPr>
            <a:picLocks noChangeAspect="1"/>
          </p:cNvPicPr>
          <p:nvPr/>
        </p:nvPicPr>
        <p:blipFill>
          <a:blip r:embed="rId2"/>
          <a:stretch>
            <a:fillRect/>
          </a:stretch>
        </p:blipFill>
        <p:spPr>
          <a:xfrm>
            <a:off x="6856171" y="2055571"/>
            <a:ext cx="460858" cy="460858"/>
          </a:xfrm>
          <a:prstGeom prst="rect">
            <a:avLst/>
          </a:prstGeom>
        </p:spPr>
      </p:pic>
      <p:sp>
        <p:nvSpPr>
          <p:cNvPr id="13" name="Text 9"/>
          <p:cNvSpPr/>
          <p:nvPr/>
        </p:nvSpPr>
        <p:spPr>
          <a:xfrm>
            <a:off x="7680960" y="2011680"/>
            <a:ext cx="3657600" cy="457200"/>
          </a:xfrm>
          <a:prstGeom prst="rect">
            <a:avLst/>
          </a:prstGeom>
          <a:noFill/>
          <a:ln/>
        </p:spPr>
        <p:txBody>
          <a:bodyPr wrap="square" rtlCol="0" anchor="t"/>
          <a:lstStyle/>
          <a:p>
            <a:pPr algn="l" indent="0" marL="0">
              <a:buNone/>
            </a:pPr>
            <a:r>
              <a:rPr lang="en-US" sz="2100" b="1" dirty="0">
                <a:solidFill>
                  <a:srgbClr val="1F3A5F"/>
                </a:solidFill>
                <a:latin typeface="Calibri" pitchFamily="34" charset="0"/>
                <a:ea typeface="Calibri" pitchFamily="34" charset="-122"/>
                <a:cs typeface="Calibri" pitchFamily="34" charset="-120"/>
              </a:rPr>
              <a:t>Problématique</a:t>
            </a:r>
            <a:endParaRPr lang="en-US" sz="2100" dirty="0"/>
          </a:p>
        </p:txBody>
      </p:sp>
      <p:sp>
        <p:nvSpPr>
          <p:cNvPr id="14" name="Text 10"/>
          <p:cNvSpPr/>
          <p:nvPr/>
        </p:nvSpPr>
        <p:spPr>
          <a:xfrm>
            <a:off x="6675120" y="2880360"/>
            <a:ext cx="4480560" cy="1828800"/>
          </a:xfrm>
          <a:prstGeom prst="rect">
            <a:avLst/>
          </a:prstGeom>
          <a:noFill/>
          <a:ln/>
        </p:spPr>
        <p:txBody>
          <a:bodyPr wrap="square" rtlCol="0" anchor="t"/>
          <a:lstStyle/>
          <a:p>
            <a:pPr algn="l" indent="0" marL="0">
              <a:buNone/>
            </a:pPr>
            <a:r>
              <a:rPr lang="en-US" sz="1500" dirty="0">
                <a:solidFill>
                  <a:srgbClr val="5A6B7D"/>
                </a:solidFill>
                <a:latin typeface="Calibri" pitchFamily="34" charset="0"/>
                <a:ea typeface="Calibri" pitchFamily="34" charset="-122"/>
                <a:cs typeface="Calibri" pitchFamily="34" charset="-120"/>
              </a:rPr>
              <a:t>Les données de vente sont dispersées dans plusieurs fichiers hétérogènes, sans vision unifiée ni traitement automatisé.</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Quatre fichiers, une seule vérité à construire</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777240" y="1600200"/>
            <a:ext cx="5029200" cy="1965960"/>
          </a:xfrm>
          <a:prstGeom prst="roundRect">
            <a:avLst>
              <a:gd name="adj" fmla="val 4651"/>
            </a:avLst>
          </a:prstGeom>
          <a:solidFill>
            <a:srgbClr val="F5F8FB"/>
          </a:solidFill>
          <a:ln/>
          <a:effectLst>
            <a:outerShdw sx="100000" sy="100000" kx="0" ky="0" algn="bl" rotWithShape="0" blurRad="114300" dist="25400" dir="5400000">
              <a:srgbClr val="1F3A5F">
                <a:alpha val="14000"/>
              </a:srgbClr>
            </a:outerShdw>
          </a:effectLst>
        </p:spPr>
      </p:sp>
      <p:sp>
        <p:nvSpPr>
          <p:cNvPr id="6" name="Shape 4"/>
          <p:cNvSpPr/>
          <p:nvPr/>
        </p:nvSpPr>
        <p:spPr>
          <a:xfrm>
            <a:off x="1097280" y="2148840"/>
            <a:ext cx="868680" cy="868680"/>
          </a:xfrm>
          <a:prstGeom prst="ellipse">
            <a:avLst/>
          </a:prstGeom>
          <a:solidFill>
            <a:srgbClr val="DCE7F2"/>
          </a:solidFill>
          <a:ln/>
        </p:spPr>
      </p:sp>
      <p:pic>
        <p:nvPicPr>
          <p:cNvPr id="7" name="Image 0" descr="icons/users.png">    </p:cNvPr>
          <p:cNvPicPr>
            <a:picLocks noChangeAspect="1"/>
          </p:cNvPicPr>
          <p:nvPr/>
        </p:nvPicPr>
        <p:blipFill>
          <a:blip r:embed="rId1"/>
          <a:stretch>
            <a:fillRect/>
          </a:stretch>
        </p:blipFill>
        <p:spPr>
          <a:xfrm>
            <a:off x="1288390" y="2339950"/>
            <a:ext cx="486461" cy="486461"/>
          </a:xfrm>
          <a:prstGeom prst="rect">
            <a:avLst/>
          </a:prstGeom>
        </p:spPr>
      </p:pic>
      <p:sp>
        <p:nvSpPr>
          <p:cNvPr id="8" name="Text 5"/>
          <p:cNvSpPr/>
          <p:nvPr/>
        </p:nvSpPr>
        <p:spPr>
          <a:xfrm>
            <a:off x="2148840" y="1920240"/>
            <a:ext cx="3383280" cy="365760"/>
          </a:xfrm>
          <a:prstGeom prst="rect">
            <a:avLst/>
          </a:prstGeom>
          <a:noFill/>
          <a:ln/>
        </p:spPr>
        <p:txBody>
          <a:bodyPr wrap="square" rtlCol="0" anchor="t"/>
          <a:lstStyle/>
          <a:p>
            <a:pPr algn="l" indent="0" marL="0">
              <a:buNone/>
            </a:pPr>
            <a:r>
              <a:rPr lang="en-US" sz="1700" b="1" dirty="0">
                <a:solidFill>
                  <a:srgbClr val="1F3A5F"/>
                </a:solidFill>
                <a:latin typeface="Calibri" pitchFamily="34" charset="0"/>
                <a:ea typeface="Calibri" pitchFamily="34" charset="-122"/>
                <a:cs typeface="Calibri" pitchFamily="34" charset="-120"/>
              </a:rPr>
              <a:t>client.xml</a:t>
            </a:r>
            <a:endParaRPr lang="en-US" sz="1700" dirty="0"/>
          </a:p>
        </p:txBody>
      </p:sp>
      <p:sp>
        <p:nvSpPr>
          <p:cNvPr id="9" name="Text 6"/>
          <p:cNvSpPr/>
          <p:nvPr/>
        </p:nvSpPr>
        <p:spPr>
          <a:xfrm>
            <a:off x="2148840" y="2350008"/>
            <a:ext cx="3383280" cy="320040"/>
          </a:xfrm>
          <a:prstGeom prst="rect">
            <a:avLst/>
          </a:prstGeom>
          <a:noFill/>
          <a:ln/>
        </p:spPr>
        <p:txBody>
          <a:bodyPr wrap="square" rtlCol="0" anchor="t"/>
          <a:lstStyle/>
          <a:p>
            <a:pPr algn="l" indent="0" marL="0">
              <a:buNone/>
            </a:pPr>
            <a:r>
              <a:rPr lang="en-US" sz="1350" dirty="0">
                <a:solidFill>
                  <a:srgbClr val="5A6B7D"/>
                </a:solidFill>
                <a:latin typeface="Calibri" pitchFamily="34" charset="0"/>
                <a:ea typeface="Calibri" pitchFamily="34" charset="-122"/>
                <a:cs typeface="Calibri" pitchFamily="34" charset="-120"/>
              </a:rPr>
              <a:t>Clients</a:t>
            </a:r>
            <a:endParaRPr lang="en-US" sz="1350" dirty="0"/>
          </a:p>
        </p:txBody>
      </p:sp>
      <p:sp>
        <p:nvSpPr>
          <p:cNvPr id="10" name="Text 7"/>
          <p:cNvSpPr/>
          <p:nvPr/>
        </p:nvSpPr>
        <p:spPr>
          <a:xfrm>
            <a:off x="2148840" y="2697480"/>
            <a:ext cx="3383280" cy="365760"/>
          </a:xfrm>
          <a:prstGeom prst="rect">
            <a:avLst/>
          </a:prstGeom>
          <a:noFill/>
          <a:ln/>
        </p:spPr>
        <p:txBody>
          <a:bodyPr wrap="square" rtlCol="0" anchor="t"/>
          <a:lstStyle/>
          <a:p>
            <a:pPr algn="l" indent="0" marL="0">
              <a:buNone/>
            </a:pPr>
            <a:r>
              <a:rPr lang="en-US" sz="1400" b="1" dirty="0">
                <a:solidFill>
                  <a:srgbClr val="3D6FA5"/>
                </a:solidFill>
                <a:latin typeface="Calibri" pitchFamily="34" charset="0"/>
                <a:ea typeface="Calibri" pitchFamily="34" charset="-122"/>
                <a:cs typeface="Calibri" pitchFamily="34" charset="-120"/>
              </a:rPr>
              <a:t>435 enregistrements</a:t>
            </a:r>
            <a:endParaRPr lang="en-US" sz="1400" dirty="0"/>
          </a:p>
        </p:txBody>
      </p:sp>
      <p:sp>
        <p:nvSpPr>
          <p:cNvPr id="11" name="Shape 8"/>
          <p:cNvSpPr/>
          <p:nvPr/>
        </p:nvSpPr>
        <p:spPr>
          <a:xfrm>
            <a:off x="6126480" y="1600200"/>
            <a:ext cx="5029200" cy="1965960"/>
          </a:xfrm>
          <a:prstGeom prst="roundRect">
            <a:avLst>
              <a:gd name="adj" fmla="val 4651"/>
            </a:avLst>
          </a:prstGeom>
          <a:solidFill>
            <a:srgbClr val="F5F8FB"/>
          </a:solidFill>
          <a:ln/>
          <a:effectLst>
            <a:outerShdw sx="100000" sy="100000" kx="0" ky="0" algn="bl" rotWithShape="0" blurRad="114300" dist="25400" dir="5400000">
              <a:srgbClr val="1F3A5F">
                <a:alpha val="14000"/>
              </a:srgbClr>
            </a:outerShdw>
          </a:effectLst>
        </p:spPr>
      </p:sp>
      <p:sp>
        <p:nvSpPr>
          <p:cNvPr id="12" name="Shape 9"/>
          <p:cNvSpPr/>
          <p:nvPr/>
        </p:nvSpPr>
        <p:spPr>
          <a:xfrm>
            <a:off x="6446520" y="2148840"/>
            <a:ext cx="868680" cy="868680"/>
          </a:xfrm>
          <a:prstGeom prst="ellipse">
            <a:avLst/>
          </a:prstGeom>
          <a:solidFill>
            <a:srgbClr val="DCE7F2"/>
          </a:solidFill>
          <a:ln/>
        </p:spPr>
      </p:sp>
      <p:pic>
        <p:nvPicPr>
          <p:cNvPr id="13" name="Image 1" descr="icons/euro.png">    </p:cNvPr>
          <p:cNvPicPr>
            <a:picLocks noChangeAspect="1"/>
          </p:cNvPicPr>
          <p:nvPr/>
        </p:nvPicPr>
        <p:blipFill>
          <a:blip r:embed="rId2"/>
          <a:stretch>
            <a:fillRect/>
          </a:stretch>
        </p:blipFill>
        <p:spPr>
          <a:xfrm>
            <a:off x="6637630" y="2339950"/>
            <a:ext cx="486461" cy="486461"/>
          </a:xfrm>
          <a:prstGeom prst="rect">
            <a:avLst/>
          </a:prstGeom>
        </p:spPr>
      </p:pic>
      <p:sp>
        <p:nvSpPr>
          <p:cNvPr id="14" name="Text 10"/>
          <p:cNvSpPr/>
          <p:nvPr/>
        </p:nvSpPr>
        <p:spPr>
          <a:xfrm>
            <a:off x="7498080" y="1920240"/>
            <a:ext cx="3383280" cy="365760"/>
          </a:xfrm>
          <a:prstGeom prst="rect">
            <a:avLst/>
          </a:prstGeom>
          <a:noFill/>
          <a:ln/>
        </p:spPr>
        <p:txBody>
          <a:bodyPr wrap="square" rtlCol="0" anchor="t"/>
          <a:lstStyle/>
          <a:p>
            <a:pPr algn="l" indent="0" marL="0">
              <a:buNone/>
            </a:pPr>
            <a:r>
              <a:rPr lang="en-US" sz="1700" b="1" dirty="0">
                <a:solidFill>
                  <a:srgbClr val="1F3A5F"/>
                </a:solidFill>
                <a:latin typeface="Calibri" pitchFamily="34" charset="0"/>
                <a:ea typeface="Calibri" pitchFamily="34" charset="-122"/>
                <a:cs typeface="Calibri" pitchFamily="34" charset="-120"/>
              </a:rPr>
              <a:t>product.csv</a:t>
            </a:r>
            <a:endParaRPr lang="en-US" sz="1700" dirty="0"/>
          </a:p>
        </p:txBody>
      </p:sp>
      <p:sp>
        <p:nvSpPr>
          <p:cNvPr id="15" name="Text 11"/>
          <p:cNvSpPr/>
          <p:nvPr/>
        </p:nvSpPr>
        <p:spPr>
          <a:xfrm>
            <a:off x="7498080" y="2350008"/>
            <a:ext cx="3383280" cy="320040"/>
          </a:xfrm>
          <a:prstGeom prst="rect">
            <a:avLst/>
          </a:prstGeom>
          <a:noFill/>
          <a:ln/>
        </p:spPr>
        <p:txBody>
          <a:bodyPr wrap="square" rtlCol="0" anchor="t"/>
          <a:lstStyle/>
          <a:p>
            <a:pPr algn="l" indent="0" marL="0">
              <a:buNone/>
            </a:pPr>
            <a:r>
              <a:rPr lang="en-US" sz="1350" dirty="0">
                <a:solidFill>
                  <a:srgbClr val="5A6B7D"/>
                </a:solidFill>
                <a:latin typeface="Calibri" pitchFamily="34" charset="0"/>
                <a:ea typeface="Calibri" pitchFamily="34" charset="-122"/>
                <a:cs typeface="Calibri" pitchFamily="34" charset="-120"/>
              </a:rPr>
              <a:t>Catalogue interne (EUR)</a:t>
            </a:r>
            <a:endParaRPr lang="en-US" sz="1350" dirty="0"/>
          </a:p>
        </p:txBody>
      </p:sp>
      <p:sp>
        <p:nvSpPr>
          <p:cNvPr id="16" name="Text 12"/>
          <p:cNvSpPr/>
          <p:nvPr/>
        </p:nvSpPr>
        <p:spPr>
          <a:xfrm>
            <a:off x="7498080" y="2697480"/>
            <a:ext cx="3383280" cy="365760"/>
          </a:xfrm>
          <a:prstGeom prst="rect">
            <a:avLst/>
          </a:prstGeom>
          <a:noFill/>
          <a:ln/>
        </p:spPr>
        <p:txBody>
          <a:bodyPr wrap="square" rtlCol="0" anchor="t"/>
          <a:lstStyle/>
          <a:p>
            <a:pPr algn="l" indent="0" marL="0">
              <a:buNone/>
            </a:pPr>
            <a:r>
              <a:rPr lang="en-US" sz="1400" b="1" dirty="0">
                <a:solidFill>
                  <a:srgbClr val="3D6FA5"/>
                </a:solidFill>
                <a:latin typeface="Calibri" pitchFamily="34" charset="0"/>
                <a:ea typeface="Calibri" pitchFamily="34" charset="-122"/>
                <a:cs typeface="Calibri" pitchFamily="34" charset="-120"/>
              </a:rPr>
              <a:t>180 produits</a:t>
            </a:r>
            <a:endParaRPr lang="en-US" sz="1400" dirty="0"/>
          </a:p>
        </p:txBody>
      </p:sp>
      <p:sp>
        <p:nvSpPr>
          <p:cNvPr id="17" name="Shape 13"/>
          <p:cNvSpPr/>
          <p:nvPr/>
        </p:nvSpPr>
        <p:spPr>
          <a:xfrm>
            <a:off x="777240" y="3886200"/>
            <a:ext cx="5029200" cy="1965960"/>
          </a:xfrm>
          <a:prstGeom prst="roundRect">
            <a:avLst>
              <a:gd name="adj" fmla="val 4651"/>
            </a:avLst>
          </a:prstGeom>
          <a:solidFill>
            <a:srgbClr val="F5F8FB"/>
          </a:solidFill>
          <a:ln/>
          <a:effectLst>
            <a:outerShdw sx="100000" sy="100000" kx="0" ky="0" algn="bl" rotWithShape="0" blurRad="114300" dist="25400" dir="5400000">
              <a:srgbClr val="1F3A5F">
                <a:alpha val="14000"/>
              </a:srgbClr>
            </a:outerShdw>
          </a:effectLst>
        </p:spPr>
      </p:sp>
      <p:sp>
        <p:nvSpPr>
          <p:cNvPr id="18" name="Shape 14"/>
          <p:cNvSpPr/>
          <p:nvPr/>
        </p:nvSpPr>
        <p:spPr>
          <a:xfrm>
            <a:off x="1097280" y="4434840"/>
            <a:ext cx="868680" cy="868680"/>
          </a:xfrm>
          <a:prstGeom prst="ellipse">
            <a:avLst/>
          </a:prstGeom>
          <a:solidFill>
            <a:srgbClr val="DCE7F2"/>
          </a:solidFill>
          <a:ln/>
        </p:spPr>
      </p:sp>
      <p:pic>
        <p:nvPicPr>
          <p:cNvPr id="19" name="Image 2" descr="icons/dollar.png">    </p:cNvPr>
          <p:cNvPicPr>
            <a:picLocks noChangeAspect="1"/>
          </p:cNvPicPr>
          <p:nvPr/>
        </p:nvPicPr>
        <p:blipFill>
          <a:blip r:embed="rId3"/>
          <a:stretch>
            <a:fillRect/>
          </a:stretch>
        </p:blipFill>
        <p:spPr>
          <a:xfrm>
            <a:off x="1288390" y="4625950"/>
            <a:ext cx="486461" cy="486461"/>
          </a:xfrm>
          <a:prstGeom prst="rect">
            <a:avLst/>
          </a:prstGeom>
        </p:spPr>
      </p:pic>
      <p:sp>
        <p:nvSpPr>
          <p:cNvPr id="20" name="Text 15"/>
          <p:cNvSpPr/>
          <p:nvPr/>
        </p:nvSpPr>
        <p:spPr>
          <a:xfrm>
            <a:off x="2148840" y="4206240"/>
            <a:ext cx="3383280" cy="365760"/>
          </a:xfrm>
          <a:prstGeom prst="rect">
            <a:avLst/>
          </a:prstGeom>
          <a:noFill/>
          <a:ln/>
        </p:spPr>
        <p:txBody>
          <a:bodyPr wrap="square" rtlCol="0" anchor="t"/>
          <a:lstStyle/>
          <a:p>
            <a:pPr algn="l" indent="0" marL="0">
              <a:buNone/>
            </a:pPr>
            <a:r>
              <a:rPr lang="en-US" sz="1700" b="1" dirty="0">
                <a:solidFill>
                  <a:srgbClr val="1F3A5F"/>
                </a:solidFill>
                <a:latin typeface="Calibri" pitchFamily="34" charset="0"/>
                <a:ea typeface="Calibri" pitchFamily="34" charset="-122"/>
                <a:cs typeface="Calibri" pitchFamily="34" charset="-120"/>
              </a:rPr>
              <a:t>product.xml</a:t>
            </a:r>
            <a:endParaRPr lang="en-US" sz="1700" dirty="0"/>
          </a:p>
        </p:txBody>
      </p:sp>
      <p:sp>
        <p:nvSpPr>
          <p:cNvPr id="21" name="Text 16"/>
          <p:cNvSpPr/>
          <p:nvPr/>
        </p:nvSpPr>
        <p:spPr>
          <a:xfrm>
            <a:off x="2148840" y="4636008"/>
            <a:ext cx="3383280" cy="320040"/>
          </a:xfrm>
          <a:prstGeom prst="rect">
            <a:avLst/>
          </a:prstGeom>
          <a:noFill/>
          <a:ln/>
        </p:spPr>
        <p:txBody>
          <a:bodyPr wrap="square" rtlCol="0" anchor="t"/>
          <a:lstStyle/>
          <a:p>
            <a:pPr algn="l" indent="0" marL="0">
              <a:buNone/>
            </a:pPr>
            <a:r>
              <a:rPr lang="en-US" sz="1350" dirty="0">
                <a:solidFill>
                  <a:srgbClr val="5A6B7D"/>
                </a:solidFill>
                <a:latin typeface="Calibri" pitchFamily="34" charset="0"/>
                <a:ea typeface="Calibri" pitchFamily="34" charset="-122"/>
                <a:cs typeface="Calibri" pitchFamily="34" charset="-120"/>
              </a:rPr>
              <a:t>Catalogue externe (USD)</a:t>
            </a:r>
            <a:endParaRPr lang="en-US" sz="1350" dirty="0"/>
          </a:p>
        </p:txBody>
      </p:sp>
      <p:sp>
        <p:nvSpPr>
          <p:cNvPr id="22" name="Text 17"/>
          <p:cNvSpPr/>
          <p:nvPr/>
        </p:nvSpPr>
        <p:spPr>
          <a:xfrm>
            <a:off x="2148840" y="4983480"/>
            <a:ext cx="3383280" cy="365760"/>
          </a:xfrm>
          <a:prstGeom prst="rect">
            <a:avLst/>
          </a:prstGeom>
          <a:noFill/>
          <a:ln/>
        </p:spPr>
        <p:txBody>
          <a:bodyPr wrap="square" rtlCol="0" anchor="t"/>
          <a:lstStyle/>
          <a:p>
            <a:pPr algn="l" indent="0" marL="0">
              <a:buNone/>
            </a:pPr>
            <a:r>
              <a:rPr lang="en-US" sz="1400" b="1" dirty="0">
                <a:solidFill>
                  <a:srgbClr val="3D6FA5"/>
                </a:solidFill>
                <a:latin typeface="Calibri" pitchFamily="34" charset="0"/>
                <a:ea typeface="Calibri" pitchFamily="34" charset="-122"/>
                <a:cs typeface="Calibri" pitchFamily="34" charset="-120"/>
              </a:rPr>
              <a:t>20 produits</a:t>
            </a:r>
            <a:endParaRPr lang="en-US" sz="1400" dirty="0"/>
          </a:p>
        </p:txBody>
      </p:sp>
      <p:sp>
        <p:nvSpPr>
          <p:cNvPr id="23" name="Shape 18"/>
          <p:cNvSpPr/>
          <p:nvPr/>
        </p:nvSpPr>
        <p:spPr>
          <a:xfrm>
            <a:off x="6126480" y="3886200"/>
            <a:ext cx="5029200" cy="1965960"/>
          </a:xfrm>
          <a:prstGeom prst="roundRect">
            <a:avLst>
              <a:gd name="adj" fmla="val 4651"/>
            </a:avLst>
          </a:prstGeom>
          <a:solidFill>
            <a:srgbClr val="F5F8FB"/>
          </a:solidFill>
          <a:ln/>
          <a:effectLst>
            <a:outerShdw sx="100000" sy="100000" kx="0" ky="0" algn="bl" rotWithShape="0" blurRad="114300" dist="25400" dir="5400000">
              <a:srgbClr val="1F3A5F">
                <a:alpha val="14000"/>
              </a:srgbClr>
            </a:outerShdw>
          </a:effectLst>
        </p:spPr>
      </p:sp>
      <p:sp>
        <p:nvSpPr>
          <p:cNvPr id="24" name="Shape 19"/>
          <p:cNvSpPr/>
          <p:nvPr/>
        </p:nvSpPr>
        <p:spPr>
          <a:xfrm>
            <a:off x="6446520" y="4434840"/>
            <a:ext cx="868680" cy="868680"/>
          </a:xfrm>
          <a:prstGeom prst="ellipse">
            <a:avLst/>
          </a:prstGeom>
          <a:solidFill>
            <a:srgbClr val="DCE7F2"/>
          </a:solidFill>
          <a:ln/>
        </p:spPr>
      </p:sp>
      <p:pic>
        <p:nvPicPr>
          <p:cNvPr id="25" name="Image 3" descr="icons/receipt.png">    </p:cNvPr>
          <p:cNvPicPr>
            <a:picLocks noChangeAspect="1"/>
          </p:cNvPicPr>
          <p:nvPr/>
        </p:nvPicPr>
        <p:blipFill>
          <a:blip r:embed="rId4"/>
          <a:stretch>
            <a:fillRect/>
          </a:stretch>
        </p:blipFill>
        <p:spPr>
          <a:xfrm>
            <a:off x="6637630" y="4625950"/>
            <a:ext cx="486461" cy="486461"/>
          </a:xfrm>
          <a:prstGeom prst="rect">
            <a:avLst/>
          </a:prstGeom>
        </p:spPr>
      </p:pic>
      <p:sp>
        <p:nvSpPr>
          <p:cNvPr id="26" name="Text 20"/>
          <p:cNvSpPr/>
          <p:nvPr/>
        </p:nvSpPr>
        <p:spPr>
          <a:xfrm>
            <a:off x="7498080" y="4206240"/>
            <a:ext cx="3383280" cy="365760"/>
          </a:xfrm>
          <a:prstGeom prst="rect">
            <a:avLst/>
          </a:prstGeom>
          <a:noFill/>
          <a:ln/>
        </p:spPr>
        <p:txBody>
          <a:bodyPr wrap="square" rtlCol="0" anchor="t"/>
          <a:lstStyle/>
          <a:p>
            <a:pPr algn="l" indent="0" marL="0">
              <a:buNone/>
            </a:pPr>
            <a:r>
              <a:rPr lang="en-US" sz="1700" b="1" dirty="0">
                <a:solidFill>
                  <a:srgbClr val="1F3A5F"/>
                </a:solidFill>
                <a:latin typeface="Calibri" pitchFamily="34" charset="0"/>
                <a:ea typeface="Calibri" pitchFamily="34" charset="-122"/>
                <a:cs typeface="Calibri" pitchFamily="34" charset="-120"/>
              </a:rPr>
              <a:t>transactions_2026.csv</a:t>
            </a:r>
            <a:endParaRPr lang="en-US" sz="1700" dirty="0"/>
          </a:p>
        </p:txBody>
      </p:sp>
      <p:sp>
        <p:nvSpPr>
          <p:cNvPr id="27" name="Text 21"/>
          <p:cNvSpPr/>
          <p:nvPr/>
        </p:nvSpPr>
        <p:spPr>
          <a:xfrm>
            <a:off x="7498080" y="4636008"/>
            <a:ext cx="3383280" cy="320040"/>
          </a:xfrm>
          <a:prstGeom prst="rect">
            <a:avLst/>
          </a:prstGeom>
          <a:noFill/>
          <a:ln/>
        </p:spPr>
        <p:txBody>
          <a:bodyPr wrap="square" rtlCol="0" anchor="t"/>
          <a:lstStyle/>
          <a:p>
            <a:pPr algn="l" indent="0" marL="0">
              <a:buNone/>
            </a:pPr>
            <a:r>
              <a:rPr lang="en-US" sz="1350" dirty="0">
                <a:solidFill>
                  <a:srgbClr val="5A6B7D"/>
                </a:solidFill>
                <a:latin typeface="Calibri" pitchFamily="34" charset="0"/>
                <a:ea typeface="Calibri" pitchFamily="34" charset="-122"/>
                <a:cs typeface="Calibri" pitchFamily="34" charset="-120"/>
              </a:rPr>
              <a:t>Ventes</a:t>
            </a:r>
            <a:endParaRPr lang="en-US" sz="1350" dirty="0"/>
          </a:p>
        </p:txBody>
      </p:sp>
      <p:sp>
        <p:nvSpPr>
          <p:cNvPr id="28" name="Text 22"/>
          <p:cNvSpPr/>
          <p:nvPr/>
        </p:nvSpPr>
        <p:spPr>
          <a:xfrm>
            <a:off x="7498080" y="4983480"/>
            <a:ext cx="3383280" cy="365760"/>
          </a:xfrm>
          <a:prstGeom prst="rect">
            <a:avLst/>
          </a:prstGeom>
          <a:noFill/>
          <a:ln/>
        </p:spPr>
        <p:txBody>
          <a:bodyPr wrap="square" rtlCol="0" anchor="t"/>
          <a:lstStyle/>
          <a:p>
            <a:pPr algn="l" indent="0" marL="0">
              <a:buNone/>
            </a:pPr>
            <a:r>
              <a:rPr lang="en-US" sz="1400" b="1" dirty="0">
                <a:solidFill>
                  <a:srgbClr val="3D6FA5"/>
                </a:solidFill>
                <a:latin typeface="Calibri" pitchFamily="34" charset="0"/>
                <a:ea typeface="Calibri" pitchFamily="34" charset="-122"/>
                <a:cs typeface="Calibri" pitchFamily="34" charset="-120"/>
              </a:rPr>
              <a:t>10 343 lignes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Une chaîne de traitement de bout en bout</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777240" y="1691640"/>
            <a:ext cx="2148840" cy="1691640"/>
          </a:xfrm>
          <a:prstGeom prst="roundRect">
            <a:avLst>
              <a:gd name="adj" fmla="val 5405"/>
            </a:avLst>
          </a:prstGeom>
          <a:solidFill>
            <a:srgbClr val="F5F8FB"/>
          </a:solidFill>
          <a:ln/>
          <a:effectLst>
            <a:outerShdw sx="100000" sy="100000" kx="0" ky="0" algn="bl" rotWithShape="0" blurRad="114300" dist="25400" dir="5400000">
              <a:srgbClr val="1F3A5F">
                <a:alpha val="14000"/>
              </a:srgbClr>
            </a:outerShdw>
          </a:effectLst>
        </p:spPr>
      </p:sp>
      <p:sp>
        <p:nvSpPr>
          <p:cNvPr id="6" name="Shape 4"/>
          <p:cNvSpPr/>
          <p:nvPr/>
        </p:nvSpPr>
        <p:spPr>
          <a:xfrm>
            <a:off x="1463040" y="1947672"/>
            <a:ext cx="777240" cy="777240"/>
          </a:xfrm>
          <a:prstGeom prst="ellipse">
            <a:avLst/>
          </a:prstGeom>
          <a:solidFill>
            <a:srgbClr val="DCE7F2"/>
          </a:solidFill>
          <a:ln/>
        </p:spPr>
      </p:sp>
      <p:pic>
        <p:nvPicPr>
          <p:cNvPr id="7" name="Image 0" descr="icons/boxes.png">    </p:cNvPr>
          <p:cNvPicPr>
            <a:picLocks noChangeAspect="1"/>
          </p:cNvPicPr>
          <p:nvPr/>
        </p:nvPicPr>
        <p:blipFill>
          <a:blip r:embed="rId1"/>
          <a:stretch>
            <a:fillRect/>
          </a:stretch>
        </p:blipFill>
        <p:spPr>
          <a:xfrm>
            <a:off x="1634033" y="2118665"/>
            <a:ext cx="435254" cy="435254"/>
          </a:xfrm>
          <a:prstGeom prst="rect">
            <a:avLst/>
          </a:prstGeom>
        </p:spPr>
      </p:pic>
      <p:sp>
        <p:nvSpPr>
          <p:cNvPr id="8" name="Text 5"/>
          <p:cNvSpPr/>
          <p:nvPr/>
        </p:nvSpPr>
        <p:spPr>
          <a:xfrm>
            <a:off x="777240" y="2862072"/>
            <a:ext cx="2148840" cy="45720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Sources</a:t>
            </a:r>
            <a:endParaRPr lang="en-US" sz="1300" dirty="0"/>
          </a:p>
          <a:p>
            <a:pPr algn="ctr" indent="0" marL="0">
              <a:buNone/>
            </a:pPr>
            <a:r>
              <a:rPr lang="en-US" sz="1300" b="1" dirty="0">
                <a:solidFill>
                  <a:srgbClr val="1F3A5F"/>
                </a:solidFill>
                <a:latin typeface="Calibri" pitchFamily="34" charset="0"/>
                <a:ea typeface="Calibri" pitchFamily="34" charset="-122"/>
                <a:cs typeface="Calibri" pitchFamily="34" charset="-120"/>
              </a:rPr>
              <a:t>(CSV / XML)</a:t>
            </a:r>
            <a:endParaRPr lang="en-US" sz="1300" dirty="0"/>
          </a:p>
        </p:txBody>
      </p:sp>
      <p:sp>
        <p:nvSpPr>
          <p:cNvPr id="9" name="Shape 6"/>
          <p:cNvSpPr/>
          <p:nvPr/>
        </p:nvSpPr>
        <p:spPr>
          <a:xfrm>
            <a:off x="2980944" y="2537460"/>
            <a:ext cx="347472" cy="0"/>
          </a:xfrm>
          <a:prstGeom prst="line">
            <a:avLst/>
          </a:prstGeom>
          <a:noFill/>
          <a:ln w="28575">
            <a:solidFill>
              <a:srgbClr val="1F3A5F"/>
            </a:solidFill>
            <a:prstDash val="solid"/>
            <a:tailEnd type="triangle"/>
          </a:ln>
        </p:spPr>
      </p:sp>
      <p:sp>
        <p:nvSpPr>
          <p:cNvPr id="10" name="Shape 7"/>
          <p:cNvSpPr/>
          <p:nvPr/>
        </p:nvSpPr>
        <p:spPr>
          <a:xfrm>
            <a:off x="3383280" y="1691640"/>
            <a:ext cx="2148840" cy="1691640"/>
          </a:xfrm>
          <a:prstGeom prst="roundRect">
            <a:avLst>
              <a:gd name="adj" fmla="val 5405"/>
            </a:avLst>
          </a:prstGeom>
          <a:solidFill>
            <a:srgbClr val="EAF0F7"/>
          </a:solidFill>
          <a:ln/>
          <a:effectLst>
            <a:outerShdw sx="100000" sy="100000" kx="0" ky="0" algn="bl" rotWithShape="0" blurRad="114300" dist="25400" dir="5400000">
              <a:srgbClr val="1F3A5F">
                <a:alpha val="14000"/>
              </a:srgbClr>
            </a:outerShdw>
          </a:effectLst>
        </p:spPr>
      </p:sp>
      <p:sp>
        <p:nvSpPr>
          <p:cNvPr id="11" name="Shape 8"/>
          <p:cNvSpPr/>
          <p:nvPr/>
        </p:nvSpPr>
        <p:spPr>
          <a:xfrm>
            <a:off x="4069080" y="1947672"/>
            <a:ext cx="777240" cy="777240"/>
          </a:xfrm>
          <a:prstGeom prst="ellipse">
            <a:avLst/>
          </a:prstGeom>
          <a:solidFill>
            <a:srgbClr val="1F3A5F"/>
          </a:solidFill>
          <a:ln/>
        </p:spPr>
      </p:sp>
      <p:pic>
        <p:nvPicPr>
          <p:cNvPr id="12" name="Image 1" descr="icons/cogs.png">    </p:cNvPr>
          <p:cNvPicPr>
            <a:picLocks noChangeAspect="1"/>
          </p:cNvPicPr>
          <p:nvPr/>
        </p:nvPicPr>
        <p:blipFill>
          <a:blip r:embed="rId2"/>
          <a:stretch>
            <a:fillRect/>
          </a:stretch>
        </p:blipFill>
        <p:spPr>
          <a:xfrm>
            <a:off x="4240073" y="2118665"/>
            <a:ext cx="435254" cy="435254"/>
          </a:xfrm>
          <a:prstGeom prst="rect">
            <a:avLst/>
          </a:prstGeom>
        </p:spPr>
      </p:pic>
      <p:sp>
        <p:nvSpPr>
          <p:cNvPr id="13" name="Text 9"/>
          <p:cNvSpPr/>
          <p:nvPr/>
        </p:nvSpPr>
        <p:spPr>
          <a:xfrm>
            <a:off x="3383280" y="2862072"/>
            <a:ext cx="2148840" cy="45720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Pipeline ETL</a:t>
            </a:r>
            <a:endParaRPr lang="en-US" sz="1300" dirty="0"/>
          </a:p>
          <a:p>
            <a:pPr algn="ctr" indent="0" marL="0">
              <a:buNone/>
            </a:pPr>
            <a:r>
              <a:rPr lang="en-US" sz="1300" b="1" dirty="0">
                <a:solidFill>
                  <a:srgbClr val="1F3A5F"/>
                </a:solidFill>
                <a:latin typeface="Calibri" pitchFamily="34" charset="0"/>
                <a:ea typeface="Calibri" pitchFamily="34" charset="-122"/>
                <a:cs typeface="Calibri" pitchFamily="34" charset="-120"/>
              </a:rPr>
              <a:t>(Python)</a:t>
            </a:r>
            <a:endParaRPr lang="en-US" sz="1300" dirty="0"/>
          </a:p>
        </p:txBody>
      </p:sp>
      <p:sp>
        <p:nvSpPr>
          <p:cNvPr id="14" name="Shape 10"/>
          <p:cNvSpPr/>
          <p:nvPr/>
        </p:nvSpPr>
        <p:spPr>
          <a:xfrm>
            <a:off x="5586984" y="2537460"/>
            <a:ext cx="347472" cy="0"/>
          </a:xfrm>
          <a:prstGeom prst="line">
            <a:avLst/>
          </a:prstGeom>
          <a:noFill/>
          <a:ln w="28575">
            <a:solidFill>
              <a:srgbClr val="1F3A5F"/>
            </a:solidFill>
            <a:prstDash val="solid"/>
            <a:tailEnd type="triangle"/>
          </a:ln>
        </p:spPr>
      </p:sp>
      <p:sp>
        <p:nvSpPr>
          <p:cNvPr id="15" name="Shape 11"/>
          <p:cNvSpPr/>
          <p:nvPr/>
        </p:nvSpPr>
        <p:spPr>
          <a:xfrm>
            <a:off x="5989320" y="1691640"/>
            <a:ext cx="2148840" cy="1691640"/>
          </a:xfrm>
          <a:prstGeom prst="roundRect">
            <a:avLst>
              <a:gd name="adj" fmla="val 5405"/>
            </a:avLst>
          </a:prstGeom>
          <a:solidFill>
            <a:srgbClr val="F5F8FB"/>
          </a:solidFill>
          <a:ln/>
          <a:effectLst>
            <a:outerShdw sx="100000" sy="100000" kx="0" ky="0" algn="bl" rotWithShape="0" blurRad="114300" dist="25400" dir="5400000">
              <a:srgbClr val="1F3A5F">
                <a:alpha val="14000"/>
              </a:srgbClr>
            </a:outerShdw>
          </a:effectLst>
        </p:spPr>
      </p:sp>
      <p:sp>
        <p:nvSpPr>
          <p:cNvPr id="16" name="Shape 12"/>
          <p:cNvSpPr/>
          <p:nvPr/>
        </p:nvSpPr>
        <p:spPr>
          <a:xfrm>
            <a:off x="6675120" y="1947672"/>
            <a:ext cx="777240" cy="777240"/>
          </a:xfrm>
          <a:prstGeom prst="ellipse">
            <a:avLst/>
          </a:prstGeom>
          <a:solidFill>
            <a:srgbClr val="DCE7F2"/>
          </a:solidFill>
          <a:ln/>
        </p:spPr>
      </p:sp>
      <p:pic>
        <p:nvPicPr>
          <p:cNvPr id="17" name="Image 2" descr="icons/database.png">    </p:cNvPr>
          <p:cNvPicPr>
            <a:picLocks noChangeAspect="1"/>
          </p:cNvPicPr>
          <p:nvPr/>
        </p:nvPicPr>
        <p:blipFill>
          <a:blip r:embed="rId3"/>
          <a:stretch>
            <a:fillRect/>
          </a:stretch>
        </p:blipFill>
        <p:spPr>
          <a:xfrm>
            <a:off x="6846113" y="2118665"/>
            <a:ext cx="435254" cy="435254"/>
          </a:xfrm>
          <a:prstGeom prst="rect">
            <a:avLst/>
          </a:prstGeom>
        </p:spPr>
      </p:pic>
      <p:sp>
        <p:nvSpPr>
          <p:cNvPr id="18" name="Text 13"/>
          <p:cNvSpPr/>
          <p:nvPr/>
        </p:nvSpPr>
        <p:spPr>
          <a:xfrm>
            <a:off x="5989320" y="2862072"/>
            <a:ext cx="2148840" cy="45720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Base SQLite</a:t>
            </a:r>
            <a:endParaRPr lang="en-US" sz="1300" dirty="0"/>
          </a:p>
        </p:txBody>
      </p:sp>
      <p:sp>
        <p:nvSpPr>
          <p:cNvPr id="19" name="Shape 14"/>
          <p:cNvSpPr/>
          <p:nvPr/>
        </p:nvSpPr>
        <p:spPr>
          <a:xfrm>
            <a:off x="8193024" y="2537460"/>
            <a:ext cx="347472" cy="0"/>
          </a:xfrm>
          <a:prstGeom prst="line">
            <a:avLst/>
          </a:prstGeom>
          <a:noFill/>
          <a:ln w="28575">
            <a:solidFill>
              <a:srgbClr val="1F3A5F"/>
            </a:solidFill>
            <a:prstDash val="solid"/>
            <a:tailEnd type="triangle"/>
          </a:ln>
        </p:spPr>
      </p:sp>
      <p:sp>
        <p:nvSpPr>
          <p:cNvPr id="20" name="Shape 15"/>
          <p:cNvSpPr/>
          <p:nvPr/>
        </p:nvSpPr>
        <p:spPr>
          <a:xfrm>
            <a:off x="8595360" y="1691640"/>
            <a:ext cx="2148840" cy="1691640"/>
          </a:xfrm>
          <a:prstGeom prst="roundRect">
            <a:avLst>
              <a:gd name="adj" fmla="val 5405"/>
            </a:avLst>
          </a:prstGeom>
          <a:solidFill>
            <a:srgbClr val="EAF0F7"/>
          </a:solidFill>
          <a:ln/>
          <a:effectLst>
            <a:outerShdw sx="100000" sy="100000" kx="0" ky="0" algn="bl" rotWithShape="0" blurRad="114300" dist="25400" dir="5400000">
              <a:srgbClr val="1F3A5F">
                <a:alpha val="14000"/>
              </a:srgbClr>
            </a:outerShdw>
          </a:effectLst>
        </p:spPr>
      </p:sp>
      <p:sp>
        <p:nvSpPr>
          <p:cNvPr id="21" name="Shape 16"/>
          <p:cNvSpPr/>
          <p:nvPr/>
        </p:nvSpPr>
        <p:spPr>
          <a:xfrm>
            <a:off x="9281160" y="1947672"/>
            <a:ext cx="777240" cy="777240"/>
          </a:xfrm>
          <a:prstGeom prst="ellipse">
            <a:avLst/>
          </a:prstGeom>
          <a:solidFill>
            <a:srgbClr val="1F3A5F"/>
          </a:solidFill>
          <a:ln/>
        </p:spPr>
      </p:sp>
      <p:pic>
        <p:nvPicPr>
          <p:cNvPr id="22" name="Image 3" descr="icons/chartBar.png">    </p:cNvPr>
          <p:cNvPicPr>
            <a:picLocks noChangeAspect="1"/>
          </p:cNvPicPr>
          <p:nvPr/>
        </p:nvPicPr>
        <p:blipFill>
          <a:blip r:embed="rId4"/>
          <a:stretch>
            <a:fillRect/>
          </a:stretch>
        </p:blipFill>
        <p:spPr>
          <a:xfrm>
            <a:off x="9452153" y="2118665"/>
            <a:ext cx="435254" cy="435254"/>
          </a:xfrm>
          <a:prstGeom prst="rect">
            <a:avLst/>
          </a:prstGeom>
        </p:spPr>
      </p:pic>
      <p:sp>
        <p:nvSpPr>
          <p:cNvPr id="23" name="Text 17"/>
          <p:cNvSpPr/>
          <p:nvPr/>
        </p:nvSpPr>
        <p:spPr>
          <a:xfrm>
            <a:off x="8595360" y="2862072"/>
            <a:ext cx="2148840" cy="45720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Power BI</a:t>
            </a:r>
            <a:endParaRPr lang="en-US" sz="1300" dirty="0"/>
          </a:p>
        </p:txBody>
      </p:sp>
      <p:sp>
        <p:nvSpPr>
          <p:cNvPr id="24" name="Shape 18"/>
          <p:cNvSpPr/>
          <p:nvPr/>
        </p:nvSpPr>
        <p:spPr>
          <a:xfrm>
            <a:off x="2331720" y="3840480"/>
            <a:ext cx="4206240" cy="1234440"/>
          </a:xfrm>
          <a:prstGeom prst="roundRect">
            <a:avLst>
              <a:gd name="adj" fmla="val 7407"/>
            </a:avLst>
          </a:prstGeom>
          <a:solidFill>
            <a:srgbClr val="1F3A5F"/>
          </a:solidFill>
          <a:ln/>
          <a:effectLst>
            <a:outerShdw sx="100000" sy="100000" kx="0" ky="0" algn="bl" rotWithShape="0" blurRad="114300" dist="25400" dir="5400000">
              <a:srgbClr val="1F3A5F">
                <a:alpha val="14000"/>
              </a:srgbClr>
            </a:outerShdw>
          </a:effectLst>
        </p:spPr>
      </p:sp>
      <p:sp>
        <p:nvSpPr>
          <p:cNvPr id="25" name="Shape 19"/>
          <p:cNvSpPr/>
          <p:nvPr/>
        </p:nvSpPr>
        <p:spPr>
          <a:xfrm>
            <a:off x="2606040" y="4096512"/>
            <a:ext cx="731520" cy="731520"/>
          </a:xfrm>
          <a:prstGeom prst="ellipse">
            <a:avLst/>
          </a:prstGeom>
          <a:solidFill>
            <a:srgbClr val="3D6FA5"/>
          </a:solidFill>
          <a:ln/>
        </p:spPr>
      </p:sp>
      <p:pic>
        <p:nvPicPr>
          <p:cNvPr id="26" name="Image 4" descr="icons/aws.png">    </p:cNvPr>
          <p:cNvPicPr>
            <a:picLocks noChangeAspect="1"/>
          </p:cNvPicPr>
          <p:nvPr/>
        </p:nvPicPr>
        <p:blipFill>
          <a:blip r:embed="rId5"/>
          <a:stretch>
            <a:fillRect/>
          </a:stretch>
        </p:blipFill>
        <p:spPr>
          <a:xfrm>
            <a:off x="2770632" y="4261104"/>
            <a:ext cx="402336" cy="402336"/>
          </a:xfrm>
          <a:prstGeom prst="rect">
            <a:avLst/>
          </a:prstGeom>
        </p:spPr>
      </p:pic>
      <p:sp>
        <p:nvSpPr>
          <p:cNvPr id="27" name="Shape 20"/>
          <p:cNvSpPr/>
          <p:nvPr/>
        </p:nvSpPr>
        <p:spPr>
          <a:xfrm>
            <a:off x="5394960" y="4096512"/>
            <a:ext cx="731520" cy="731520"/>
          </a:xfrm>
          <a:prstGeom prst="ellipse">
            <a:avLst/>
          </a:prstGeom>
          <a:solidFill>
            <a:srgbClr val="3D6FA5"/>
          </a:solidFill>
          <a:ln/>
        </p:spPr>
      </p:sp>
      <p:pic>
        <p:nvPicPr>
          <p:cNvPr id="28" name="Image 5" descr="icons/clock.png">    </p:cNvPr>
          <p:cNvPicPr>
            <a:picLocks noChangeAspect="1"/>
          </p:cNvPicPr>
          <p:nvPr/>
        </p:nvPicPr>
        <p:blipFill>
          <a:blip r:embed="rId6"/>
          <a:stretch>
            <a:fillRect/>
          </a:stretch>
        </p:blipFill>
        <p:spPr>
          <a:xfrm>
            <a:off x="5559552" y="4261104"/>
            <a:ext cx="402336" cy="402336"/>
          </a:xfrm>
          <a:prstGeom prst="rect">
            <a:avLst/>
          </a:prstGeom>
        </p:spPr>
      </p:pic>
      <p:sp>
        <p:nvSpPr>
          <p:cNvPr id="29" name="Text 21"/>
          <p:cNvSpPr/>
          <p:nvPr/>
        </p:nvSpPr>
        <p:spPr>
          <a:xfrm>
            <a:off x="3429000" y="4041648"/>
            <a:ext cx="1783080" cy="274320"/>
          </a:xfrm>
          <a:prstGeom prst="rect">
            <a:avLst/>
          </a:prstGeom>
          <a:noFill/>
          <a:ln/>
        </p:spPr>
        <p:txBody>
          <a:bodyPr wrap="square" rtlCol="0" anchor="t"/>
          <a:lstStyle/>
          <a:p>
            <a:pPr algn="l" indent="0" marL="0">
              <a:buNone/>
            </a:pPr>
            <a:r>
              <a:rPr lang="en-US" sz="1150" b="1" dirty="0">
                <a:solidFill>
                  <a:srgbClr val="FFFFFF"/>
                </a:solidFill>
                <a:latin typeface="Calibri" pitchFamily="34" charset="0"/>
                <a:ea typeface="Calibri" pitchFamily="34" charset="-122"/>
                <a:cs typeface="Calibri" pitchFamily="34" charset="-120"/>
              </a:rPr>
              <a:t>Instance Amazon EC2</a:t>
            </a:r>
            <a:endParaRPr lang="en-US" sz="1150" dirty="0"/>
          </a:p>
        </p:txBody>
      </p:sp>
      <p:sp>
        <p:nvSpPr>
          <p:cNvPr id="30" name="Text 22"/>
          <p:cNvSpPr/>
          <p:nvPr/>
        </p:nvSpPr>
        <p:spPr>
          <a:xfrm>
            <a:off x="3429000" y="4315968"/>
            <a:ext cx="1920240" cy="685800"/>
          </a:xfrm>
          <a:prstGeom prst="rect">
            <a:avLst/>
          </a:prstGeom>
          <a:noFill/>
          <a:ln/>
        </p:spPr>
        <p:txBody>
          <a:bodyPr wrap="square" rtlCol="0" anchor="t"/>
          <a:lstStyle/>
          <a:p>
            <a:pPr algn="l" indent="0" marL="0">
              <a:buNone/>
            </a:pPr>
            <a:r>
              <a:rPr lang="en-US" sz="1050" dirty="0">
                <a:solidFill>
                  <a:srgbClr val="DCE7F2"/>
                </a:solidFill>
                <a:latin typeface="Calibri" pitchFamily="34" charset="0"/>
                <a:ea typeface="Calibri" pitchFamily="34" charset="-122"/>
                <a:cs typeface="Calibri" pitchFamily="34" charset="-120"/>
              </a:rPr>
              <a:t>Exécution automatisée quotidienne (cron)</a:t>
            </a:r>
            <a:endParaRPr lang="en-US" sz="1050" dirty="0"/>
          </a:p>
        </p:txBody>
      </p:sp>
      <p:sp>
        <p:nvSpPr>
          <p:cNvPr id="31" name="Shape 23"/>
          <p:cNvSpPr/>
          <p:nvPr/>
        </p:nvSpPr>
        <p:spPr>
          <a:xfrm>
            <a:off x="4457700" y="3438144"/>
            <a:ext cx="0" cy="347472"/>
          </a:xfrm>
          <a:prstGeom prst="line">
            <a:avLst/>
          </a:prstGeom>
          <a:noFill/>
          <a:ln w="28575">
            <a:solidFill>
              <a:srgbClr val="1F3A5F"/>
            </a:solidFill>
            <a:prstDash val="solid"/>
            <a:tailEnd type="triangle"/>
          </a:ln>
        </p:spPr>
      </p:sp>
      <p:sp>
        <p:nvSpPr>
          <p:cNvPr id="32" name="Text 24"/>
          <p:cNvSpPr/>
          <p:nvPr/>
        </p:nvSpPr>
        <p:spPr>
          <a:xfrm>
            <a:off x="777240" y="5806440"/>
            <a:ext cx="10607040" cy="457200"/>
          </a:xfrm>
          <a:prstGeom prst="rect">
            <a:avLst/>
          </a:prstGeom>
          <a:noFill/>
          <a:ln/>
        </p:spPr>
        <p:txBody>
          <a:bodyPr wrap="square" rtlCol="0" anchor="t"/>
          <a:lstStyle/>
          <a:p>
            <a:pPr algn="ctr" indent="0" marL="0">
              <a:buNone/>
            </a:pPr>
            <a:r>
              <a:rPr lang="en-US" sz="1400" i="1" dirty="0">
                <a:solidFill>
                  <a:srgbClr val="5A6B7D"/>
                </a:solidFill>
                <a:latin typeface="Calibri" pitchFamily="34" charset="0"/>
                <a:ea typeface="Calibri" pitchFamily="34" charset="-122"/>
                <a:cs typeface="Calibri" pitchFamily="34" charset="-120"/>
              </a:rPr>
              <a:t>Un pipeline unique, hébergé dans le cloud, qui transforme la donnée brute en décision.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Traduire le métier en modèle conceptuel</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928116" y="1463040"/>
            <a:ext cx="10332720" cy="3983388"/>
          </a:xfrm>
          <a:prstGeom prst="roundRect">
            <a:avLst>
              <a:gd name="adj" fmla="val 1377"/>
            </a:avLst>
          </a:prstGeom>
          <a:solidFill>
            <a:srgbClr val="F5F8FB"/>
          </a:solidFill>
          <a:ln/>
          <a:effectLst>
            <a:outerShdw sx="100000" sy="100000" kx="0" ky="0" algn="bl" rotWithShape="0" blurRad="114300" dist="25400" dir="5400000">
              <a:srgbClr val="1F3A5F">
                <a:alpha val="14000"/>
              </a:srgbClr>
            </a:outerShdw>
          </a:effectLst>
        </p:spPr>
      </p:sp>
      <p:pic>
        <p:nvPicPr>
          <p:cNvPr id="6" name="Image 0" descr="MCD_Lerouge_Moulin.png">    </p:cNvPr>
          <p:cNvPicPr>
            <a:picLocks noChangeAspect="1"/>
          </p:cNvPicPr>
          <p:nvPr/>
        </p:nvPicPr>
        <p:blipFill>
          <a:blip r:embed="rId1"/>
          <a:stretch>
            <a:fillRect/>
          </a:stretch>
        </p:blipFill>
        <p:spPr>
          <a:xfrm>
            <a:off x="1065276" y="1600200"/>
            <a:ext cx="10058400" cy="3709068"/>
          </a:xfrm>
          <a:prstGeom prst="rect">
            <a:avLst/>
          </a:prstGeom>
        </p:spPr>
      </p:pic>
      <p:sp>
        <p:nvSpPr>
          <p:cNvPr id="7" name="Text 4"/>
          <p:cNvSpPr/>
          <p:nvPr/>
        </p:nvSpPr>
        <p:spPr>
          <a:xfrm>
            <a:off x="777240" y="5629308"/>
            <a:ext cx="10607040" cy="457200"/>
          </a:xfrm>
          <a:prstGeom prst="rect">
            <a:avLst/>
          </a:prstGeom>
          <a:noFill/>
          <a:ln/>
        </p:spPr>
        <p:txBody>
          <a:bodyPr wrap="square" rtlCol="0" anchor="t"/>
          <a:lstStyle/>
          <a:p>
            <a:pPr algn="ctr" indent="0" marL="0">
              <a:buNone/>
            </a:pPr>
            <a:r>
              <a:rPr lang="en-US" sz="1400" b="1" dirty="0">
                <a:solidFill>
                  <a:srgbClr val="3D6FA5"/>
                </a:solidFill>
                <a:latin typeface="Calibri" pitchFamily="34" charset="0"/>
                <a:ea typeface="Calibri" pitchFamily="34" charset="-122"/>
                <a:cs typeface="Calibri" pitchFamily="34" charset="-120"/>
              </a:rPr>
              <a:t>4 entités  •  3 associations  •  cardinalités Merise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Du modèle conceptuel au modèle relationnel</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777240" y="1828800"/>
            <a:ext cx="640080" cy="640080"/>
          </a:xfrm>
          <a:prstGeom prst="ellipse">
            <a:avLst/>
          </a:prstGeom>
          <a:solidFill>
            <a:srgbClr val="DCE7F2"/>
          </a:solidFill>
          <a:ln/>
        </p:spPr>
      </p:sp>
      <p:pic>
        <p:nvPicPr>
          <p:cNvPr id="6" name="Image 0" descr="icons/key.png">    </p:cNvPr>
          <p:cNvPicPr>
            <a:picLocks noChangeAspect="1"/>
          </p:cNvPicPr>
          <p:nvPr/>
        </p:nvPicPr>
        <p:blipFill>
          <a:blip r:embed="rId1"/>
          <a:stretch>
            <a:fillRect/>
          </a:stretch>
        </p:blipFill>
        <p:spPr>
          <a:xfrm>
            <a:off x="937260" y="1988820"/>
            <a:ext cx="320040" cy="320040"/>
          </a:xfrm>
          <a:prstGeom prst="rect">
            <a:avLst/>
          </a:prstGeom>
        </p:spPr>
      </p:pic>
      <p:sp>
        <p:nvSpPr>
          <p:cNvPr id="7" name="Text 4"/>
          <p:cNvSpPr/>
          <p:nvPr/>
        </p:nvSpPr>
        <p:spPr>
          <a:xfrm>
            <a:off x="1600200" y="1920240"/>
            <a:ext cx="4206240" cy="548640"/>
          </a:xfrm>
          <a:prstGeom prst="rect">
            <a:avLst/>
          </a:prstGeom>
          <a:noFill/>
          <a:ln/>
        </p:spPr>
        <p:txBody>
          <a:bodyPr wrap="square" rtlCol="0" anchor="t"/>
          <a:lstStyle/>
          <a:p>
            <a:pPr algn="l" indent="0" marL="0">
              <a:buNone/>
            </a:pPr>
            <a:r>
              <a:rPr lang="en-US" sz="1450" b="1" dirty="0">
                <a:solidFill>
                  <a:srgbClr val="1F3A5F"/>
                </a:solidFill>
                <a:latin typeface="Calibri" pitchFamily="34" charset="0"/>
                <a:ea typeface="Calibri" pitchFamily="34" charset="-122"/>
                <a:cs typeface="Calibri" pitchFamily="34" charset="-120"/>
              </a:rPr>
              <a:t>Identifiants transformés en clés primaires</a:t>
            </a:r>
            <a:endParaRPr lang="en-US" sz="1450" dirty="0"/>
          </a:p>
        </p:txBody>
      </p:sp>
      <p:sp>
        <p:nvSpPr>
          <p:cNvPr id="8" name="Shape 5"/>
          <p:cNvSpPr/>
          <p:nvPr/>
        </p:nvSpPr>
        <p:spPr>
          <a:xfrm>
            <a:off x="777240" y="2880360"/>
            <a:ext cx="640080" cy="640080"/>
          </a:xfrm>
          <a:prstGeom prst="ellipse">
            <a:avLst/>
          </a:prstGeom>
          <a:solidFill>
            <a:srgbClr val="DCE7F2"/>
          </a:solidFill>
          <a:ln/>
        </p:spPr>
      </p:sp>
      <p:pic>
        <p:nvPicPr>
          <p:cNvPr id="9" name="Image 1" descr="icons/link.png">    </p:cNvPr>
          <p:cNvPicPr>
            <a:picLocks noChangeAspect="1"/>
          </p:cNvPicPr>
          <p:nvPr/>
        </p:nvPicPr>
        <p:blipFill>
          <a:blip r:embed="rId2"/>
          <a:stretch>
            <a:fillRect/>
          </a:stretch>
        </p:blipFill>
        <p:spPr>
          <a:xfrm>
            <a:off x="937260" y="3040380"/>
            <a:ext cx="320040" cy="320040"/>
          </a:xfrm>
          <a:prstGeom prst="rect">
            <a:avLst/>
          </a:prstGeom>
        </p:spPr>
      </p:pic>
      <p:sp>
        <p:nvSpPr>
          <p:cNvPr id="10" name="Text 6"/>
          <p:cNvSpPr/>
          <p:nvPr/>
        </p:nvSpPr>
        <p:spPr>
          <a:xfrm>
            <a:off x="1600200" y="2971800"/>
            <a:ext cx="4206240" cy="548640"/>
          </a:xfrm>
          <a:prstGeom prst="rect">
            <a:avLst/>
          </a:prstGeom>
          <a:noFill/>
          <a:ln/>
        </p:spPr>
        <p:txBody>
          <a:bodyPr wrap="square" rtlCol="0" anchor="t"/>
          <a:lstStyle/>
          <a:p>
            <a:pPr algn="l" indent="0" marL="0">
              <a:buNone/>
            </a:pPr>
            <a:r>
              <a:rPr lang="en-US" sz="1450" b="1" dirty="0">
                <a:solidFill>
                  <a:srgbClr val="1F3A5F"/>
                </a:solidFill>
                <a:latin typeface="Calibri" pitchFamily="34" charset="0"/>
                <a:ea typeface="Calibri" pitchFamily="34" charset="-122"/>
                <a:cs typeface="Calibri" pitchFamily="34" charset="-120"/>
              </a:rPr>
              <a:t>Associations traduites en clés étrangères</a:t>
            </a:r>
            <a:endParaRPr lang="en-US" sz="1450" dirty="0"/>
          </a:p>
        </p:txBody>
      </p:sp>
      <p:sp>
        <p:nvSpPr>
          <p:cNvPr id="11" name="Shape 7"/>
          <p:cNvSpPr/>
          <p:nvPr/>
        </p:nvSpPr>
        <p:spPr>
          <a:xfrm>
            <a:off x="777240" y="3931920"/>
            <a:ext cx="640080" cy="640080"/>
          </a:xfrm>
          <a:prstGeom prst="ellipse">
            <a:avLst/>
          </a:prstGeom>
          <a:solidFill>
            <a:srgbClr val="DCE7F2"/>
          </a:solidFill>
          <a:ln/>
        </p:spPr>
      </p:sp>
      <p:pic>
        <p:nvPicPr>
          <p:cNvPr id="12" name="Image 2" descr="icons/table.png">    </p:cNvPr>
          <p:cNvPicPr>
            <a:picLocks noChangeAspect="1"/>
          </p:cNvPicPr>
          <p:nvPr/>
        </p:nvPicPr>
        <p:blipFill>
          <a:blip r:embed="rId3"/>
          <a:stretch>
            <a:fillRect/>
          </a:stretch>
        </p:blipFill>
        <p:spPr>
          <a:xfrm>
            <a:off x="937260" y="4091940"/>
            <a:ext cx="320040" cy="320040"/>
          </a:xfrm>
          <a:prstGeom prst="rect">
            <a:avLst/>
          </a:prstGeom>
        </p:spPr>
      </p:pic>
      <p:sp>
        <p:nvSpPr>
          <p:cNvPr id="13" name="Text 8"/>
          <p:cNvSpPr/>
          <p:nvPr/>
        </p:nvSpPr>
        <p:spPr>
          <a:xfrm>
            <a:off x="1600200" y="4023360"/>
            <a:ext cx="4206240" cy="548640"/>
          </a:xfrm>
          <a:prstGeom prst="rect">
            <a:avLst/>
          </a:prstGeom>
          <a:noFill/>
          <a:ln/>
        </p:spPr>
        <p:txBody>
          <a:bodyPr wrap="square" rtlCol="0" anchor="t"/>
          <a:lstStyle/>
          <a:p>
            <a:pPr algn="l" indent="0" marL="0">
              <a:buNone/>
            </a:pPr>
            <a:r>
              <a:rPr lang="en-US" sz="1450" b="1" dirty="0">
                <a:solidFill>
                  <a:srgbClr val="1F3A5F"/>
                </a:solidFill>
                <a:latin typeface="Calibri" pitchFamily="34" charset="0"/>
                <a:ea typeface="Calibri" pitchFamily="34" charset="-122"/>
                <a:cs typeface="Calibri" pitchFamily="34" charset="-120"/>
              </a:rPr>
              <a:t>Quatre tables relationnelles</a:t>
            </a:r>
            <a:endParaRPr lang="en-US" sz="1450" dirty="0"/>
          </a:p>
        </p:txBody>
      </p:sp>
      <p:sp>
        <p:nvSpPr>
          <p:cNvPr id="14" name="Shape 9"/>
          <p:cNvSpPr/>
          <p:nvPr/>
        </p:nvSpPr>
        <p:spPr>
          <a:xfrm>
            <a:off x="777240" y="5074920"/>
            <a:ext cx="4937760" cy="1051560"/>
          </a:xfrm>
          <a:prstGeom prst="roundRect">
            <a:avLst>
              <a:gd name="adj" fmla="val 8696"/>
            </a:avLst>
          </a:prstGeom>
          <a:solidFill>
            <a:srgbClr val="F5F8FB"/>
          </a:solidFill>
          <a:ln/>
          <a:effectLst>
            <a:outerShdw sx="100000" sy="100000" kx="0" ky="0" algn="bl" rotWithShape="0" blurRad="114300" dist="25400" dir="5400000">
              <a:srgbClr val="1F3A5F">
                <a:alpha val="14000"/>
              </a:srgbClr>
            </a:outerShdw>
          </a:effectLst>
        </p:spPr>
      </p:sp>
      <p:sp>
        <p:nvSpPr>
          <p:cNvPr id="15" name="Text 10"/>
          <p:cNvSpPr/>
          <p:nvPr/>
        </p:nvSpPr>
        <p:spPr>
          <a:xfrm>
            <a:off x="1051560" y="5285232"/>
            <a:ext cx="4389120" cy="640080"/>
          </a:xfrm>
          <a:prstGeom prst="rect">
            <a:avLst/>
          </a:prstGeom>
          <a:noFill/>
          <a:ln/>
        </p:spPr>
        <p:txBody>
          <a:bodyPr wrap="square" rtlCol="0" anchor="t"/>
          <a:lstStyle/>
          <a:p>
            <a:pPr algn="l" indent="0" marL="0">
              <a:buNone/>
            </a:pPr>
            <a:r>
              <a:rPr lang="en-US" sz="1300" i="1" dirty="0">
                <a:solidFill>
                  <a:srgbClr val="5A6B7D"/>
                </a:solidFill>
                <a:latin typeface="Calibri" pitchFamily="34" charset="0"/>
                <a:ea typeface="Calibri" pitchFamily="34" charset="-122"/>
                <a:cs typeface="Calibri" pitchFamily="34" charset="-120"/>
              </a:rPr>
              <a:t>Chaque règle de transformation suit un principe rigoureux et reproductible.</a:t>
            </a:r>
            <a:endParaRPr lang="en-US" sz="1300" dirty="0"/>
          </a:p>
        </p:txBody>
      </p:sp>
      <p:sp>
        <p:nvSpPr>
          <p:cNvPr id="16" name="Shape 11"/>
          <p:cNvSpPr/>
          <p:nvPr/>
        </p:nvSpPr>
        <p:spPr>
          <a:xfrm>
            <a:off x="7506917" y="1417320"/>
            <a:ext cx="4105963" cy="5166360"/>
          </a:xfrm>
          <a:prstGeom prst="roundRect">
            <a:avLst>
              <a:gd name="adj" fmla="val 1336"/>
            </a:avLst>
          </a:prstGeom>
          <a:solidFill>
            <a:srgbClr val="F5F8FB"/>
          </a:solidFill>
          <a:ln/>
          <a:effectLst>
            <a:outerShdw sx="100000" sy="100000" kx="0" ky="0" algn="bl" rotWithShape="0" blurRad="114300" dist="25400" dir="5400000">
              <a:srgbClr val="1F3A5F">
                <a:alpha val="14000"/>
              </a:srgbClr>
            </a:outerShdw>
          </a:effectLst>
        </p:spPr>
      </p:sp>
      <p:pic>
        <p:nvPicPr>
          <p:cNvPr id="17" name="Image 3" descr="MLD_Lerouge_Moulin.png">    </p:cNvPr>
          <p:cNvPicPr>
            <a:picLocks noChangeAspect="1"/>
          </p:cNvPicPr>
          <p:nvPr/>
        </p:nvPicPr>
        <p:blipFill>
          <a:blip r:embed="rId4"/>
          <a:stretch>
            <a:fillRect/>
          </a:stretch>
        </p:blipFill>
        <p:spPr>
          <a:xfrm>
            <a:off x="7644077" y="1554480"/>
            <a:ext cx="3831643" cy="4892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Un choix assumé : tracer plutôt que convertir</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1188720" y="2377440"/>
            <a:ext cx="1051560" cy="1051560"/>
          </a:xfrm>
          <a:prstGeom prst="ellipse">
            <a:avLst/>
          </a:prstGeom>
          <a:solidFill>
            <a:srgbClr val="DCE7F2"/>
          </a:solidFill>
          <a:ln/>
        </p:spPr>
      </p:sp>
      <p:pic>
        <p:nvPicPr>
          <p:cNvPr id="6" name="Image 0" descr="icons/euro.png">    </p:cNvPr>
          <p:cNvPicPr>
            <a:picLocks noChangeAspect="1"/>
          </p:cNvPicPr>
          <p:nvPr/>
        </p:nvPicPr>
        <p:blipFill>
          <a:blip r:embed="rId1"/>
          <a:stretch>
            <a:fillRect/>
          </a:stretch>
        </p:blipFill>
        <p:spPr>
          <a:xfrm>
            <a:off x="1451610" y="2640330"/>
            <a:ext cx="525780" cy="525780"/>
          </a:xfrm>
          <a:prstGeom prst="rect">
            <a:avLst/>
          </a:prstGeom>
        </p:spPr>
      </p:pic>
      <p:sp>
        <p:nvSpPr>
          <p:cNvPr id="7" name="Text 4"/>
          <p:cNvSpPr/>
          <p:nvPr/>
        </p:nvSpPr>
        <p:spPr>
          <a:xfrm>
            <a:off x="685800" y="3566160"/>
            <a:ext cx="2057400" cy="640080"/>
          </a:xfrm>
          <a:prstGeom prst="rect">
            <a:avLst/>
          </a:prstGeom>
          <a:noFill/>
          <a:ln/>
        </p:spPr>
        <p:txBody>
          <a:bodyPr wrap="square" rtlCol="0" anchor="t"/>
          <a:lstStyle/>
          <a:p>
            <a:pPr algn="ctr" indent="0" marL="0">
              <a:buNone/>
            </a:pPr>
            <a:r>
              <a:rPr lang="en-US" sz="1250" b="1" dirty="0">
                <a:solidFill>
                  <a:srgbClr val="1F3A5F"/>
                </a:solidFill>
                <a:latin typeface="Calibri" pitchFamily="34" charset="0"/>
                <a:ea typeface="Calibri" pitchFamily="34" charset="-122"/>
                <a:cs typeface="Calibri" pitchFamily="34" charset="-120"/>
              </a:rPr>
              <a:t>180 produits</a:t>
            </a:r>
            <a:endParaRPr lang="en-US" sz="1250" dirty="0"/>
          </a:p>
          <a:p>
            <a:pPr algn="ctr" indent="0" marL="0">
              <a:buNone/>
            </a:pPr>
            <a:r>
              <a:rPr lang="en-US" sz="1250" b="1" dirty="0">
                <a:solidFill>
                  <a:srgbClr val="1F3A5F"/>
                </a:solidFill>
                <a:latin typeface="Calibri" pitchFamily="34" charset="0"/>
                <a:ea typeface="Calibri" pitchFamily="34" charset="-122"/>
                <a:cs typeface="Calibri" pitchFamily="34" charset="-120"/>
              </a:rPr>
              <a:t>catalogue interne</a:t>
            </a:r>
            <a:endParaRPr lang="en-US" sz="1250" dirty="0"/>
          </a:p>
        </p:txBody>
      </p:sp>
      <p:sp>
        <p:nvSpPr>
          <p:cNvPr id="8" name="Shape 5"/>
          <p:cNvSpPr/>
          <p:nvPr/>
        </p:nvSpPr>
        <p:spPr>
          <a:xfrm>
            <a:off x="1188720" y="4114800"/>
            <a:ext cx="1051560" cy="1051560"/>
          </a:xfrm>
          <a:prstGeom prst="ellipse">
            <a:avLst/>
          </a:prstGeom>
          <a:solidFill>
            <a:srgbClr val="DCE7F2"/>
          </a:solidFill>
          <a:ln/>
        </p:spPr>
      </p:sp>
      <p:pic>
        <p:nvPicPr>
          <p:cNvPr id="9" name="Image 1" descr="icons/dollar.png">    </p:cNvPr>
          <p:cNvPicPr>
            <a:picLocks noChangeAspect="1"/>
          </p:cNvPicPr>
          <p:nvPr/>
        </p:nvPicPr>
        <p:blipFill>
          <a:blip r:embed="rId2"/>
          <a:stretch>
            <a:fillRect/>
          </a:stretch>
        </p:blipFill>
        <p:spPr>
          <a:xfrm>
            <a:off x="1451610" y="4377690"/>
            <a:ext cx="525780" cy="525780"/>
          </a:xfrm>
          <a:prstGeom prst="rect">
            <a:avLst/>
          </a:prstGeom>
        </p:spPr>
      </p:pic>
      <p:sp>
        <p:nvSpPr>
          <p:cNvPr id="10" name="Text 6"/>
          <p:cNvSpPr/>
          <p:nvPr/>
        </p:nvSpPr>
        <p:spPr>
          <a:xfrm>
            <a:off x="685800" y="5303520"/>
            <a:ext cx="2057400" cy="640080"/>
          </a:xfrm>
          <a:prstGeom prst="rect">
            <a:avLst/>
          </a:prstGeom>
          <a:noFill/>
          <a:ln/>
        </p:spPr>
        <p:txBody>
          <a:bodyPr wrap="square" rtlCol="0" anchor="t"/>
          <a:lstStyle/>
          <a:p>
            <a:pPr algn="ctr" indent="0" marL="0">
              <a:buNone/>
            </a:pPr>
            <a:r>
              <a:rPr lang="en-US" sz="1250" b="1" dirty="0">
                <a:solidFill>
                  <a:srgbClr val="1F3A5F"/>
                </a:solidFill>
                <a:latin typeface="Calibri" pitchFamily="34" charset="0"/>
                <a:ea typeface="Calibri" pitchFamily="34" charset="-122"/>
                <a:cs typeface="Calibri" pitchFamily="34" charset="-120"/>
              </a:rPr>
              <a:t>20 produits</a:t>
            </a:r>
            <a:endParaRPr lang="en-US" sz="1250" dirty="0"/>
          </a:p>
          <a:p>
            <a:pPr algn="ctr" indent="0" marL="0">
              <a:buNone/>
            </a:pPr>
            <a:r>
              <a:rPr lang="en-US" sz="1250" b="1" dirty="0">
                <a:solidFill>
                  <a:srgbClr val="1F3A5F"/>
                </a:solidFill>
                <a:latin typeface="Calibri" pitchFamily="34" charset="0"/>
                <a:ea typeface="Calibri" pitchFamily="34" charset="-122"/>
                <a:cs typeface="Calibri" pitchFamily="34" charset="-120"/>
              </a:rPr>
              <a:t>catalogue externe</a:t>
            </a:r>
            <a:endParaRPr lang="en-US" sz="1250" dirty="0"/>
          </a:p>
        </p:txBody>
      </p:sp>
      <p:sp>
        <p:nvSpPr>
          <p:cNvPr id="11" name="Shape 7"/>
          <p:cNvSpPr/>
          <p:nvPr/>
        </p:nvSpPr>
        <p:spPr>
          <a:xfrm>
            <a:off x="2423160" y="2903220"/>
            <a:ext cx="1371600" cy="0"/>
          </a:xfrm>
          <a:prstGeom prst="line">
            <a:avLst/>
          </a:prstGeom>
          <a:noFill/>
          <a:ln w="28575">
            <a:solidFill>
              <a:srgbClr val="1F3A5F"/>
            </a:solidFill>
            <a:prstDash val="solid"/>
            <a:tailEnd type="triangle"/>
          </a:ln>
        </p:spPr>
      </p:sp>
      <p:sp>
        <p:nvSpPr>
          <p:cNvPr id="12" name="Shape 8"/>
          <p:cNvSpPr/>
          <p:nvPr/>
        </p:nvSpPr>
        <p:spPr>
          <a:xfrm>
            <a:off x="2423160" y="4640580"/>
            <a:ext cx="1371600" cy="0"/>
          </a:xfrm>
          <a:prstGeom prst="line">
            <a:avLst/>
          </a:prstGeom>
          <a:noFill/>
          <a:ln w="28575">
            <a:solidFill>
              <a:srgbClr val="1F3A5F"/>
            </a:solidFill>
            <a:prstDash val="solid"/>
            <a:tailEnd type="triangle"/>
          </a:ln>
        </p:spPr>
      </p:sp>
      <p:sp>
        <p:nvSpPr>
          <p:cNvPr id="13" name="Shape 9"/>
          <p:cNvSpPr/>
          <p:nvPr/>
        </p:nvSpPr>
        <p:spPr>
          <a:xfrm>
            <a:off x="3794760" y="2903220"/>
            <a:ext cx="0" cy="1737360"/>
          </a:xfrm>
          <a:prstGeom prst="line">
            <a:avLst/>
          </a:prstGeom>
          <a:noFill/>
          <a:ln w="28575">
            <a:solidFill>
              <a:srgbClr val="1F3A5F"/>
            </a:solidFill>
            <a:prstDash val="solid"/>
          </a:ln>
        </p:spPr>
      </p:sp>
      <p:sp>
        <p:nvSpPr>
          <p:cNvPr id="14" name="Shape 10"/>
          <p:cNvSpPr/>
          <p:nvPr/>
        </p:nvSpPr>
        <p:spPr>
          <a:xfrm>
            <a:off x="3794760" y="3771900"/>
            <a:ext cx="502920" cy="0"/>
          </a:xfrm>
          <a:prstGeom prst="line">
            <a:avLst/>
          </a:prstGeom>
          <a:noFill/>
          <a:ln w="28575">
            <a:solidFill>
              <a:srgbClr val="1F3A5F"/>
            </a:solidFill>
            <a:prstDash val="solid"/>
            <a:tailEnd type="triangle"/>
          </a:ln>
        </p:spPr>
      </p:sp>
      <p:sp>
        <p:nvSpPr>
          <p:cNvPr id="15" name="Shape 11"/>
          <p:cNvSpPr/>
          <p:nvPr/>
        </p:nvSpPr>
        <p:spPr>
          <a:xfrm>
            <a:off x="4434840" y="2880360"/>
            <a:ext cx="2834640" cy="1874520"/>
          </a:xfrm>
          <a:prstGeom prst="roundRect">
            <a:avLst>
              <a:gd name="adj" fmla="val 4878"/>
            </a:avLst>
          </a:prstGeom>
          <a:solidFill>
            <a:srgbClr val="1F3A5F"/>
          </a:solidFill>
          <a:ln/>
          <a:effectLst>
            <a:outerShdw sx="100000" sy="100000" kx="0" ky="0" algn="bl" rotWithShape="0" blurRad="114300" dist="25400" dir="5400000">
              <a:srgbClr val="1F3A5F">
                <a:alpha val="14000"/>
              </a:srgbClr>
            </a:outerShdw>
          </a:effectLst>
        </p:spPr>
      </p:sp>
      <p:sp>
        <p:nvSpPr>
          <p:cNvPr id="16" name="Shape 12"/>
          <p:cNvSpPr/>
          <p:nvPr/>
        </p:nvSpPr>
        <p:spPr>
          <a:xfrm>
            <a:off x="5349240" y="3108960"/>
            <a:ext cx="777240" cy="777240"/>
          </a:xfrm>
          <a:prstGeom prst="ellipse">
            <a:avLst/>
          </a:prstGeom>
          <a:solidFill>
            <a:srgbClr val="3D6FA5"/>
          </a:solidFill>
          <a:ln/>
        </p:spPr>
      </p:sp>
      <p:pic>
        <p:nvPicPr>
          <p:cNvPr id="17" name="Image 2" descr="icons/table.png">    </p:cNvPr>
          <p:cNvPicPr>
            <a:picLocks noChangeAspect="1"/>
          </p:cNvPicPr>
          <p:nvPr/>
        </p:nvPicPr>
        <p:blipFill>
          <a:blip r:embed="rId3"/>
          <a:stretch>
            <a:fillRect/>
          </a:stretch>
        </p:blipFill>
        <p:spPr>
          <a:xfrm>
            <a:off x="5543550" y="3303270"/>
            <a:ext cx="388620" cy="388620"/>
          </a:xfrm>
          <a:prstGeom prst="rect">
            <a:avLst/>
          </a:prstGeom>
        </p:spPr>
      </p:pic>
      <p:sp>
        <p:nvSpPr>
          <p:cNvPr id="18" name="Text 13"/>
          <p:cNvSpPr/>
          <p:nvPr/>
        </p:nvSpPr>
        <p:spPr>
          <a:xfrm>
            <a:off x="4434840" y="3977640"/>
            <a:ext cx="2834640" cy="502920"/>
          </a:xfrm>
          <a:prstGeom prst="rect">
            <a:avLst/>
          </a:prstGeom>
          <a:noFill/>
          <a:ln/>
        </p:spPr>
        <p:txBody>
          <a:bodyPr wrap="square"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Table PRODUIT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200 produits</a:t>
            </a:r>
            <a:endParaRPr lang="en-US" sz="1300" dirty="0"/>
          </a:p>
        </p:txBody>
      </p:sp>
      <p:sp>
        <p:nvSpPr>
          <p:cNvPr id="19" name="Shape 14"/>
          <p:cNvSpPr/>
          <p:nvPr/>
        </p:nvSpPr>
        <p:spPr>
          <a:xfrm>
            <a:off x="7406640" y="3223260"/>
            <a:ext cx="822960" cy="0"/>
          </a:xfrm>
          <a:prstGeom prst="line">
            <a:avLst/>
          </a:prstGeom>
          <a:noFill/>
          <a:ln w="28575">
            <a:solidFill>
              <a:srgbClr val="1F3A5F"/>
            </a:solidFill>
            <a:prstDash val="solid"/>
            <a:tailEnd type="triangle"/>
          </a:ln>
        </p:spPr>
      </p:sp>
      <p:sp>
        <p:nvSpPr>
          <p:cNvPr id="20" name="Shape 15"/>
          <p:cNvSpPr/>
          <p:nvPr/>
        </p:nvSpPr>
        <p:spPr>
          <a:xfrm>
            <a:off x="8366760" y="2240280"/>
            <a:ext cx="3063240" cy="2468880"/>
          </a:xfrm>
          <a:prstGeom prst="roundRect">
            <a:avLst>
              <a:gd name="adj" fmla="val 3704"/>
            </a:avLst>
          </a:prstGeom>
          <a:solidFill>
            <a:srgbClr val="F5F8FB"/>
          </a:solidFill>
          <a:ln/>
          <a:effectLst>
            <a:outerShdw sx="100000" sy="100000" kx="0" ky="0" algn="bl" rotWithShape="0" blurRad="114300" dist="25400" dir="5400000">
              <a:srgbClr val="1F3A5F">
                <a:alpha val="14000"/>
              </a:srgbClr>
            </a:outerShdw>
          </a:effectLst>
        </p:spPr>
      </p:sp>
      <p:sp>
        <p:nvSpPr>
          <p:cNvPr id="21" name="Text 16"/>
          <p:cNvSpPr/>
          <p:nvPr/>
        </p:nvSpPr>
        <p:spPr>
          <a:xfrm>
            <a:off x="8595360" y="2423160"/>
            <a:ext cx="2651760" cy="731520"/>
          </a:xfrm>
          <a:prstGeom prst="rect">
            <a:avLst/>
          </a:prstGeom>
          <a:noFill/>
          <a:ln/>
        </p:spPr>
        <p:txBody>
          <a:bodyPr wrap="square" rtlCol="0" anchor="t"/>
          <a:lstStyle/>
          <a:p>
            <a:pPr algn="l" indent="0" marL="0">
              <a:buNone/>
            </a:pPr>
            <a:r>
              <a:rPr lang="en-US" sz="1350" b="1" dirty="0">
                <a:solidFill>
                  <a:srgbClr val="1F3A5F"/>
                </a:solidFill>
                <a:latin typeface="Calibri" pitchFamily="34" charset="0"/>
                <a:ea typeface="Calibri" pitchFamily="34" charset="-122"/>
                <a:cs typeface="Calibri" pitchFamily="34" charset="-120"/>
              </a:rPr>
              <a:t>Prix d'origine conservés,</a:t>
            </a:r>
            <a:endParaRPr lang="en-US" sz="1350" dirty="0"/>
          </a:p>
          <a:p>
            <a:pPr algn="l" indent="0" marL="0">
              <a:buNone/>
            </a:pPr>
            <a:r>
              <a:rPr lang="en-US" sz="1350" b="1" dirty="0">
                <a:solidFill>
                  <a:srgbClr val="1F3A5F"/>
                </a:solidFill>
                <a:latin typeface="Calibri" pitchFamily="34" charset="0"/>
                <a:ea typeface="Calibri" pitchFamily="34" charset="-122"/>
                <a:cs typeface="Calibri" pitchFamily="34" charset="-120"/>
              </a:rPr>
              <a:t>sans conversion</a:t>
            </a:r>
            <a:endParaRPr lang="en-US" sz="1350" dirty="0"/>
          </a:p>
        </p:txBody>
      </p:sp>
      <p:sp>
        <p:nvSpPr>
          <p:cNvPr id="22" name="Text 17"/>
          <p:cNvSpPr/>
          <p:nvPr/>
        </p:nvSpPr>
        <p:spPr>
          <a:xfrm>
            <a:off x="8595360" y="3154680"/>
            <a:ext cx="2651760" cy="1463040"/>
          </a:xfrm>
          <a:prstGeom prst="rect">
            <a:avLst/>
          </a:prstGeom>
          <a:noFill/>
          <a:ln/>
        </p:spPr>
        <p:txBody>
          <a:bodyPr wrap="square" rtlCol="0" anchor="t"/>
          <a:lstStyle/>
          <a:p>
            <a:pPr algn="l" indent="0" marL="0">
              <a:buNone/>
            </a:pPr>
            <a:r>
              <a:rPr lang="en-US" sz="1150" dirty="0">
                <a:solidFill>
                  <a:srgbClr val="5A6B7D"/>
                </a:solidFill>
                <a:latin typeface="Calibri" pitchFamily="34" charset="0"/>
                <a:ea typeface="Calibri" pitchFamily="34" charset="-122"/>
                <a:cs typeface="Calibri" pitchFamily="34" charset="-120"/>
              </a:rPr>
              <a:t>Aucun taux de change officiel fourni →  chaque produit conserve sa devise (currency_original) et son origine (product_source).</a:t>
            </a:r>
            <a:endParaRPr lang="en-US" sz="1150" dirty="0"/>
          </a:p>
        </p:txBody>
      </p:sp>
      <p:sp>
        <p:nvSpPr>
          <p:cNvPr id="23" name="Text 18"/>
          <p:cNvSpPr/>
          <p:nvPr/>
        </p:nvSpPr>
        <p:spPr>
          <a:xfrm>
            <a:off x="777240" y="5806440"/>
            <a:ext cx="10607040" cy="457200"/>
          </a:xfrm>
          <a:prstGeom prst="rect">
            <a:avLst/>
          </a:prstGeom>
          <a:noFill/>
          <a:ln/>
        </p:spPr>
        <p:txBody>
          <a:bodyPr wrap="square" rtlCol="0" anchor="t"/>
          <a:lstStyle/>
          <a:p>
            <a:pPr algn="ctr" indent="0" marL="0">
              <a:buNone/>
            </a:pPr>
            <a:r>
              <a:rPr lang="en-US" sz="1400" b="1" i="1" dirty="0">
                <a:solidFill>
                  <a:srgbClr val="3D6FA5"/>
                </a:solidFill>
                <a:latin typeface="Calibri" pitchFamily="34" charset="0"/>
                <a:ea typeface="Calibri" pitchFamily="34" charset="-122"/>
                <a:cs typeface="Calibri" pitchFamily="34" charset="-120"/>
              </a:rPr>
              <a:t>Traçabilité totale plutôt qu'une approximation non maîtrisée.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Extraire, transformer, charger</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699516" y="2103120"/>
            <a:ext cx="3200400" cy="2834640"/>
          </a:xfrm>
          <a:prstGeom prst="roundRect">
            <a:avLst>
              <a:gd name="adj" fmla="val 3226"/>
            </a:avLst>
          </a:prstGeom>
          <a:solidFill>
            <a:srgbClr val="F5F8FB"/>
          </a:solidFill>
          <a:ln/>
          <a:effectLst>
            <a:outerShdw sx="100000" sy="100000" kx="0" ky="0" algn="bl" rotWithShape="0" blurRad="114300" dist="25400" dir="5400000">
              <a:srgbClr val="1F3A5F">
                <a:alpha val="14000"/>
              </a:srgbClr>
            </a:outerShdw>
          </a:effectLst>
        </p:spPr>
      </p:sp>
      <p:sp>
        <p:nvSpPr>
          <p:cNvPr id="6" name="Shape 4"/>
          <p:cNvSpPr/>
          <p:nvPr/>
        </p:nvSpPr>
        <p:spPr>
          <a:xfrm>
            <a:off x="1796796" y="2468880"/>
            <a:ext cx="1005840" cy="1005840"/>
          </a:xfrm>
          <a:prstGeom prst="ellipse">
            <a:avLst/>
          </a:prstGeom>
          <a:solidFill>
            <a:srgbClr val="DCE7F2"/>
          </a:solidFill>
          <a:ln/>
        </p:spPr>
      </p:sp>
      <p:pic>
        <p:nvPicPr>
          <p:cNvPr id="7" name="Image 0" descr="icons/boxes.png">    </p:cNvPr>
          <p:cNvPicPr>
            <a:picLocks noChangeAspect="1"/>
          </p:cNvPicPr>
          <p:nvPr/>
        </p:nvPicPr>
        <p:blipFill>
          <a:blip r:embed="rId1"/>
          <a:stretch>
            <a:fillRect/>
          </a:stretch>
        </p:blipFill>
        <p:spPr>
          <a:xfrm>
            <a:off x="2048256" y="2720340"/>
            <a:ext cx="502920" cy="502920"/>
          </a:xfrm>
          <a:prstGeom prst="rect">
            <a:avLst/>
          </a:prstGeom>
        </p:spPr>
      </p:pic>
      <p:sp>
        <p:nvSpPr>
          <p:cNvPr id="8" name="Text 5"/>
          <p:cNvSpPr/>
          <p:nvPr/>
        </p:nvSpPr>
        <p:spPr>
          <a:xfrm>
            <a:off x="699516" y="3703320"/>
            <a:ext cx="3200400" cy="365760"/>
          </a:xfrm>
          <a:prstGeom prst="rect">
            <a:avLst/>
          </a:prstGeom>
          <a:noFill/>
          <a:ln/>
        </p:spPr>
        <p:txBody>
          <a:bodyPr wrap="square"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EXTRACT</a:t>
            </a:r>
            <a:endParaRPr lang="en-US" sz="1600" dirty="0"/>
          </a:p>
        </p:txBody>
      </p:sp>
      <p:sp>
        <p:nvSpPr>
          <p:cNvPr id="9" name="Text 6"/>
          <p:cNvSpPr/>
          <p:nvPr/>
        </p:nvSpPr>
        <p:spPr>
          <a:xfrm>
            <a:off x="973836" y="4114800"/>
            <a:ext cx="2651760" cy="731520"/>
          </a:xfrm>
          <a:prstGeom prst="rect">
            <a:avLst/>
          </a:prstGeom>
          <a:noFill/>
          <a:ln/>
        </p:spPr>
        <p:txBody>
          <a:bodyPr wrap="square"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Lecture des fichiers</a:t>
            </a:r>
            <a:endParaRPr lang="en-US" sz="1250" dirty="0"/>
          </a:p>
          <a:p>
            <a:pPr algn="ctr" indent="0" marL="0">
              <a:buNone/>
            </a:pPr>
            <a:r>
              <a:rPr lang="en-US" sz="1250" dirty="0">
                <a:solidFill>
                  <a:srgbClr val="5A6B7D"/>
                </a:solidFill>
                <a:latin typeface="Calibri" pitchFamily="34" charset="0"/>
                <a:ea typeface="Calibri" pitchFamily="34" charset="-122"/>
                <a:cs typeface="Calibri" pitchFamily="34" charset="-120"/>
              </a:rPr>
              <a:t>CSV et XML</a:t>
            </a:r>
            <a:endParaRPr lang="en-US" sz="1250" dirty="0"/>
          </a:p>
        </p:txBody>
      </p:sp>
      <p:sp>
        <p:nvSpPr>
          <p:cNvPr id="10" name="Shape 7"/>
          <p:cNvSpPr/>
          <p:nvPr/>
        </p:nvSpPr>
        <p:spPr>
          <a:xfrm>
            <a:off x="3954780" y="3520440"/>
            <a:ext cx="484632" cy="0"/>
          </a:xfrm>
          <a:prstGeom prst="line">
            <a:avLst/>
          </a:prstGeom>
          <a:noFill/>
          <a:ln w="28575">
            <a:solidFill>
              <a:srgbClr val="1F3A5F"/>
            </a:solidFill>
            <a:prstDash val="solid"/>
            <a:tailEnd type="triangle"/>
          </a:ln>
        </p:spPr>
      </p:sp>
      <p:sp>
        <p:nvSpPr>
          <p:cNvPr id="11" name="Shape 8"/>
          <p:cNvSpPr/>
          <p:nvPr/>
        </p:nvSpPr>
        <p:spPr>
          <a:xfrm>
            <a:off x="4494276" y="2103120"/>
            <a:ext cx="3200400" cy="2834640"/>
          </a:xfrm>
          <a:prstGeom prst="roundRect">
            <a:avLst>
              <a:gd name="adj" fmla="val 3226"/>
            </a:avLst>
          </a:prstGeom>
          <a:solidFill>
            <a:srgbClr val="1F3A5F"/>
          </a:solidFill>
          <a:ln/>
          <a:effectLst>
            <a:outerShdw sx="100000" sy="100000" kx="0" ky="0" algn="bl" rotWithShape="0" blurRad="114300" dist="25400" dir="5400000">
              <a:srgbClr val="1F3A5F">
                <a:alpha val="14000"/>
              </a:srgbClr>
            </a:outerShdw>
          </a:effectLst>
        </p:spPr>
      </p:sp>
      <p:sp>
        <p:nvSpPr>
          <p:cNvPr id="12" name="Shape 9"/>
          <p:cNvSpPr/>
          <p:nvPr/>
        </p:nvSpPr>
        <p:spPr>
          <a:xfrm>
            <a:off x="5591556" y="2468880"/>
            <a:ext cx="1005840" cy="1005840"/>
          </a:xfrm>
          <a:prstGeom prst="ellipse">
            <a:avLst/>
          </a:prstGeom>
          <a:solidFill>
            <a:srgbClr val="3D6FA5"/>
          </a:solidFill>
          <a:ln/>
        </p:spPr>
      </p:sp>
      <p:pic>
        <p:nvPicPr>
          <p:cNvPr id="13" name="Image 1" descr="icons/cogs.png">    </p:cNvPr>
          <p:cNvPicPr>
            <a:picLocks noChangeAspect="1"/>
          </p:cNvPicPr>
          <p:nvPr/>
        </p:nvPicPr>
        <p:blipFill>
          <a:blip r:embed="rId2"/>
          <a:stretch>
            <a:fillRect/>
          </a:stretch>
        </p:blipFill>
        <p:spPr>
          <a:xfrm>
            <a:off x="5843016" y="2720340"/>
            <a:ext cx="502920" cy="502920"/>
          </a:xfrm>
          <a:prstGeom prst="rect">
            <a:avLst/>
          </a:prstGeom>
        </p:spPr>
      </p:pic>
      <p:sp>
        <p:nvSpPr>
          <p:cNvPr id="14" name="Text 10"/>
          <p:cNvSpPr/>
          <p:nvPr/>
        </p:nvSpPr>
        <p:spPr>
          <a:xfrm>
            <a:off x="4494276" y="3703320"/>
            <a:ext cx="3200400" cy="365760"/>
          </a:xfrm>
          <a:prstGeom prst="rect">
            <a:avLst/>
          </a:prstGeom>
          <a:noFill/>
          <a:ln/>
        </p:spPr>
        <p:txBody>
          <a:bodyPr wrap="square"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TRANSFORM</a:t>
            </a:r>
            <a:endParaRPr lang="en-US" sz="1600" dirty="0"/>
          </a:p>
        </p:txBody>
      </p:sp>
      <p:sp>
        <p:nvSpPr>
          <p:cNvPr id="15" name="Text 11"/>
          <p:cNvSpPr/>
          <p:nvPr/>
        </p:nvSpPr>
        <p:spPr>
          <a:xfrm>
            <a:off x="4768596" y="4114800"/>
            <a:ext cx="2651760" cy="731520"/>
          </a:xfrm>
          <a:prstGeom prst="rect">
            <a:avLst/>
          </a:prstGeom>
          <a:noFill/>
          <a:ln/>
        </p:spPr>
        <p:txBody>
          <a:bodyPr wrap="square" rtlCol="0" anchor="t"/>
          <a:lstStyle/>
          <a:p>
            <a:pPr algn="ctr" indent="0" marL="0">
              <a:buNone/>
            </a:pPr>
            <a:r>
              <a:rPr lang="en-US" sz="1250" dirty="0">
                <a:solidFill>
                  <a:srgbClr val="DCE7F2"/>
                </a:solidFill>
                <a:latin typeface="Calibri" pitchFamily="34" charset="0"/>
                <a:ea typeface="Calibri" pitchFamily="34" charset="-122"/>
                <a:cs typeface="Calibri" pitchFamily="34" charset="-120"/>
              </a:rPr>
              <a:t>Typage, harmonisation,</a:t>
            </a:r>
            <a:endParaRPr lang="en-US" sz="1250" dirty="0"/>
          </a:p>
          <a:p>
            <a:pPr algn="ctr" indent="0" marL="0">
              <a:buNone/>
            </a:pPr>
            <a:r>
              <a:rPr lang="en-US" sz="1250" dirty="0">
                <a:solidFill>
                  <a:srgbClr val="DCE7F2"/>
                </a:solidFill>
                <a:latin typeface="Calibri" pitchFamily="34" charset="0"/>
                <a:ea typeface="Calibri" pitchFamily="34" charset="-122"/>
                <a:cs typeface="Calibri" pitchFamily="34" charset="-120"/>
              </a:rPr>
              <a:t>contrôles qualité</a:t>
            </a:r>
            <a:endParaRPr lang="en-US" sz="1250" dirty="0"/>
          </a:p>
        </p:txBody>
      </p:sp>
      <p:sp>
        <p:nvSpPr>
          <p:cNvPr id="16" name="Shape 12"/>
          <p:cNvSpPr/>
          <p:nvPr/>
        </p:nvSpPr>
        <p:spPr>
          <a:xfrm>
            <a:off x="7749540" y="3520440"/>
            <a:ext cx="484632" cy="0"/>
          </a:xfrm>
          <a:prstGeom prst="line">
            <a:avLst/>
          </a:prstGeom>
          <a:noFill/>
          <a:ln w="28575">
            <a:solidFill>
              <a:srgbClr val="1F3A5F"/>
            </a:solidFill>
            <a:prstDash val="solid"/>
            <a:tailEnd type="triangle"/>
          </a:ln>
        </p:spPr>
      </p:sp>
      <p:sp>
        <p:nvSpPr>
          <p:cNvPr id="17" name="Shape 13"/>
          <p:cNvSpPr/>
          <p:nvPr/>
        </p:nvSpPr>
        <p:spPr>
          <a:xfrm>
            <a:off x="8289036" y="2103120"/>
            <a:ext cx="3200400" cy="2834640"/>
          </a:xfrm>
          <a:prstGeom prst="roundRect">
            <a:avLst>
              <a:gd name="adj" fmla="val 3226"/>
            </a:avLst>
          </a:prstGeom>
          <a:solidFill>
            <a:srgbClr val="F5F8FB"/>
          </a:solidFill>
          <a:ln/>
          <a:effectLst>
            <a:outerShdw sx="100000" sy="100000" kx="0" ky="0" algn="bl" rotWithShape="0" blurRad="114300" dist="25400" dir="5400000">
              <a:srgbClr val="1F3A5F">
                <a:alpha val="14000"/>
              </a:srgbClr>
            </a:outerShdw>
          </a:effectLst>
        </p:spPr>
      </p:sp>
      <p:sp>
        <p:nvSpPr>
          <p:cNvPr id="18" name="Shape 14"/>
          <p:cNvSpPr/>
          <p:nvPr/>
        </p:nvSpPr>
        <p:spPr>
          <a:xfrm>
            <a:off x="9386316" y="2468880"/>
            <a:ext cx="1005840" cy="1005840"/>
          </a:xfrm>
          <a:prstGeom prst="ellipse">
            <a:avLst/>
          </a:prstGeom>
          <a:solidFill>
            <a:srgbClr val="DCE7F2"/>
          </a:solidFill>
          <a:ln/>
        </p:spPr>
      </p:sp>
      <p:pic>
        <p:nvPicPr>
          <p:cNvPr id="19" name="Image 2" descr="icons/database.png">    </p:cNvPr>
          <p:cNvPicPr>
            <a:picLocks noChangeAspect="1"/>
          </p:cNvPicPr>
          <p:nvPr/>
        </p:nvPicPr>
        <p:blipFill>
          <a:blip r:embed="rId3"/>
          <a:stretch>
            <a:fillRect/>
          </a:stretch>
        </p:blipFill>
        <p:spPr>
          <a:xfrm>
            <a:off x="9637776" y="2720340"/>
            <a:ext cx="502920" cy="502920"/>
          </a:xfrm>
          <a:prstGeom prst="rect">
            <a:avLst/>
          </a:prstGeom>
        </p:spPr>
      </p:pic>
      <p:sp>
        <p:nvSpPr>
          <p:cNvPr id="20" name="Text 15"/>
          <p:cNvSpPr/>
          <p:nvPr/>
        </p:nvSpPr>
        <p:spPr>
          <a:xfrm>
            <a:off x="8289036" y="3703320"/>
            <a:ext cx="3200400" cy="365760"/>
          </a:xfrm>
          <a:prstGeom prst="rect">
            <a:avLst/>
          </a:prstGeom>
          <a:noFill/>
          <a:ln/>
        </p:spPr>
        <p:txBody>
          <a:bodyPr wrap="square"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LOAD</a:t>
            </a:r>
            <a:endParaRPr lang="en-US" sz="1600" dirty="0"/>
          </a:p>
        </p:txBody>
      </p:sp>
      <p:sp>
        <p:nvSpPr>
          <p:cNvPr id="21" name="Text 16"/>
          <p:cNvSpPr/>
          <p:nvPr/>
        </p:nvSpPr>
        <p:spPr>
          <a:xfrm>
            <a:off x="8563356" y="4114800"/>
            <a:ext cx="2651760" cy="731520"/>
          </a:xfrm>
          <a:prstGeom prst="rect">
            <a:avLst/>
          </a:prstGeom>
          <a:noFill/>
          <a:ln/>
        </p:spPr>
        <p:txBody>
          <a:bodyPr wrap="square"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Alimentation de</a:t>
            </a:r>
            <a:endParaRPr lang="en-US" sz="1250" dirty="0"/>
          </a:p>
          <a:p>
            <a:pPr algn="ctr" indent="0" marL="0">
              <a:buNone/>
            </a:pPr>
            <a:r>
              <a:rPr lang="en-US" sz="1250" dirty="0">
                <a:solidFill>
                  <a:srgbClr val="5A6B7D"/>
                </a:solidFill>
                <a:latin typeface="Calibri" pitchFamily="34" charset="0"/>
                <a:ea typeface="Calibri" pitchFamily="34" charset="-122"/>
                <a:cs typeface="Calibri" pitchFamily="34" charset="-120"/>
              </a:rPr>
              <a:t>la base SQLite</a:t>
            </a:r>
            <a:endParaRPr lang="en-US" sz="1250" dirty="0"/>
          </a:p>
        </p:txBody>
      </p:sp>
      <p:sp>
        <p:nvSpPr>
          <p:cNvPr id="22" name="Shape 17"/>
          <p:cNvSpPr/>
          <p:nvPr/>
        </p:nvSpPr>
        <p:spPr>
          <a:xfrm>
            <a:off x="11292840" y="457200"/>
            <a:ext cx="502920" cy="502920"/>
          </a:xfrm>
          <a:prstGeom prst="ellipse">
            <a:avLst/>
          </a:prstGeom>
          <a:solidFill>
            <a:srgbClr val="1F3A5F"/>
          </a:solidFill>
          <a:ln/>
        </p:spPr>
      </p:sp>
      <p:pic>
        <p:nvPicPr>
          <p:cNvPr id="23" name="Image 3" descr="icons/python.png">    </p:cNvPr>
          <p:cNvPicPr>
            <a:picLocks noChangeAspect="1"/>
          </p:cNvPicPr>
          <p:nvPr/>
        </p:nvPicPr>
        <p:blipFill>
          <a:blip r:embed="rId4"/>
          <a:stretch>
            <a:fillRect/>
          </a:stretch>
        </p:blipFill>
        <p:spPr>
          <a:xfrm>
            <a:off x="11405997" y="570357"/>
            <a:ext cx="276606" cy="276606"/>
          </a:xfrm>
          <a:prstGeom prst="rect">
            <a:avLst/>
          </a:prstGeom>
        </p:spPr>
      </p:pic>
      <p:sp>
        <p:nvSpPr>
          <p:cNvPr id="24" name="Text 18"/>
          <p:cNvSpPr/>
          <p:nvPr/>
        </p:nvSpPr>
        <p:spPr>
          <a:xfrm>
            <a:off x="777240" y="5257800"/>
            <a:ext cx="10607040" cy="457200"/>
          </a:xfrm>
          <a:prstGeom prst="rect">
            <a:avLst/>
          </a:prstGeom>
          <a:noFill/>
          <a:ln/>
        </p:spPr>
        <p:txBody>
          <a:bodyPr wrap="square" rtlCol="0" anchor="t"/>
          <a:lstStyle/>
          <a:p>
            <a:pPr algn="ctr" indent="0" marL="0">
              <a:buNone/>
            </a:pPr>
            <a:r>
              <a:rPr lang="en-US" sz="1400" i="1" dirty="0">
                <a:solidFill>
                  <a:srgbClr val="5A6B7D"/>
                </a:solidFill>
                <a:latin typeface="Calibri" pitchFamily="34" charset="0"/>
                <a:ea typeface="Calibri" pitchFamily="34" charset="-122"/>
                <a:cs typeface="Calibri" pitchFamily="34" charset="-120"/>
              </a:rPr>
              <a:t>Un script unique, rejouable à l'identique à chaque exécution.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Fiabiliser la donnée avant tout traitement</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777240" y="1691640"/>
            <a:ext cx="5074920" cy="1234440"/>
          </a:xfrm>
          <a:prstGeom prst="roundRect">
            <a:avLst>
              <a:gd name="adj" fmla="val 7407"/>
            </a:avLst>
          </a:prstGeom>
          <a:solidFill>
            <a:srgbClr val="F5F8FB"/>
          </a:solidFill>
          <a:ln/>
          <a:effectLst>
            <a:outerShdw sx="100000" sy="100000" kx="0" ky="0" algn="bl" rotWithShape="0" blurRad="114300" dist="25400" dir="5400000">
              <a:srgbClr val="1F3A5F">
                <a:alpha val="14000"/>
              </a:srgbClr>
            </a:outerShdw>
          </a:effectLst>
        </p:spPr>
      </p:sp>
      <p:sp>
        <p:nvSpPr>
          <p:cNvPr id="6" name="Shape 4"/>
          <p:cNvSpPr/>
          <p:nvPr/>
        </p:nvSpPr>
        <p:spPr>
          <a:xfrm>
            <a:off x="1051560" y="1947672"/>
            <a:ext cx="731520" cy="731520"/>
          </a:xfrm>
          <a:prstGeom prst="ellipse">
            <a:avLst/>
          </a:prstGeom>
          <a:solidFill>
            <a:srgbClr val="DCE7F2"/>
          </a:solidFill>
          <a:ln/>
        </p:spPr>
      </p:sp>
      <p:pic>
        <p:nvPicPr>
          <p:cNvPr id="7" name="Image 0" descr="icons/checkCircle.png">    </p:cNvPr>
          <p:cNvPicPr>
            <a:picLocks noChangeAspect="1"/>
          </p:cNvPicPr>
          <p:nvPr/>
        </p:nvPicPr>
        <p:blipFill>
          <a:blip r:embed="rId1"/>
          <a:stretch>
            <a:fillRect/>
          </a:stretch>
        </p:blipFill>
        <p:spPr>
          <a:xfrm>
            <a:off x="1216152" y="2112264"/>
            <a:ext cx="402336" cy="402336"/>
          </a:xfrm>
          <a:prstGeom prst="rect">
            <a:avLst/>
          </a:prstGeom>
        </p:spPr>
      </p:pic>
      <p:sp>
        <p:nvSpPr>
          <p:cNvPr id="8" name="Text 5"/>
          <p:cNvSpPr/>
          <p:nvPr/>
        </p:nvSpPr>
        <p:spPr>
          <a:xfrm>
            <a:off x="1965960" y="1965960"/>
            <a:ext cx="3611880" cy="731520"/>
          </a:xfrm>
          <a:prstGeom prst="rect">
            <a:avLst/>
          </a:prstGeom>
          <a:noFill/>
          <a:ln/>
        </p:spPr>
        <p:txBody>
          <a:bodyPr wrap="square" rtlCol="0" anchor="t"/>
          <a:lstStyle/>
          <a:p>
            <a:pPr algn="l" indent="0" marL="0">
              <a:buNone/>
            </a:pPr>
            <a:r>
              <a:rPr lang="en-US" sz="1450" b="1" dirty="0">
                <a:solidFill>
                  <a:srgbClr val="1F3A5F"/>
                </a:solidFill>
                <a:latin typeface="Calibri" pitchFamily="34" charset="0"/>
                <a:ea typeface="Calibri" pitchFamily="34" charset="-122"/>
                <a:cs typeface="Calibri" pitchFamily="34" charset="-120"/>
              </a:rPr>
              <a:t>Complétude &amp; unicité des identifiants</a:t>
            </a:r>
            <a:endParaRPr lang="en-US" sz="1450" dirty="0"/>
          </a:p>
        </p:txBody>
      </p:sp>
      <p:sp>
        <p:nvSpPr>
          <p:cNvPr id="9" name="Shape 6"/>
          <p:cNvSpPr/>
          <p:nvPr/>
        </p:nvSpPr>
        <p:spPr>
          <a:xfrm>
            <a:off x="6126480" y="1691640"/>
            <a:ext cx="5074920" cy="1234440"/>
          </a:xfrm>
          <a:prstGeom prst="roundRect">
            <a:avLst>
              <a:gd name="adj" fmla="val 7407"/>
            </a:avLst>
          </a:prstGeom>
          <a:solidFill>
            <a:srgbClr val="F5F8FB"/>
          </a:solidFill>
          <a:ln/>
          <a:effectLst>
            <a:outerShdw sx="100000" sy="100000" kx="0" ky="0" algn="bl" rotWithShape="0" blurRad="114300" dist="25400" dir="5400000">
              <a:srgbClr val="1F3A5F">
                <a:alpha val="14000"/>
              </a:srgbClr>
            </a:outerShdw>
          </a:effectLst>
        </p:spPr>
      </p:sp>
      <p:sp>
        <p:nvSpPr>
          <p:cNvPr id="10" name="Shape 7"/>
          <p:cNvSpPr/>
          <p:nvPr/>
        </p:nvSpPr>
        <p:spPr>
          <a:xfrm>
            <a:off x="6400800" y="1947672"/>
            <a:ext cx="731520" cy="731520"/>
          </a:xfrm>
          <a:prstGeom prst="ellipse">
            <a:avLst/>
          </a:prstGeom>
          <a:solidFill>
            <a:srgbClr val="DCE7F2"/>
          </a:solidFill>
          <a:ln/>
        </p:spPr>
      </p:sp>
      <p:pic>
        <p:nvPicPr>
          <p:cNvPr id="11" name="Image 1" descr="icons/checkCircle.png">    </p:cNvPr>
          <p:cNvPicPr>
            <a:picLocks noChangeAspect="1"/>
          </p:cNvPicPr>
          <p:nvPr/>
        </p:nvPicPr>
        <p:blipFill>
          <a:blip r:embed="rId2"/>
          <a:stretch>
            <a:fillRect/>
          </a:stretch>
        </p:blipFill>
        <p:spPr>
          <a:xfrm>
            <a:off x="6565392" y="2112264"/>
            <a:ext cx="402336" cy="402336"/>
          </a:xfrm>
          <a:prstGeom prst="rect">
            <a:avLst/>
          </a:prstGeom>
        </p:spPr>
      </p:pic>
      <p:sp>
        <p:nvSpPr>
          <p:cNvPr id="12" name="Text 8"/>
          <p:cNvSpPr/>
          <p:nvPr/>
        </p:nvSpPr>
        <p:spPr>
          <a:xfrm>
            <a:off x="7315200" y="1965960"/>
            <a:ext cx="3611880" cy="731520"/>
          </a:xfrm>
          <a:prstGeom prst="rect">
            <a:avLst/>
          </a:prstGeom>
          <a:noFill/>
          <a:ln/>
        </p:spPr>
        <p:txBody>
          <a:bodyPr wrap="square" rtlCol="0" anchor="t"/>
          <a:lstStyle/>
          <a:p>
            <a:pPr algn="l" indent="0" marL="0">
              <a:buNone/>
            </a:pPr>
            <a:r>
              <a:rPr lang="en-US" sz="1450" b="1" dirty="0">
                <a:solidFill>
                  <a:srgbClr val="1F3A5F"/>
                </a:solidFill>
                <a:latin typeface="Calibri" pitchFamily="34" charset="0"/>
                <a:ea typeface="Calibri" pitchFamily="34" charset="-122"/>
                <a:cs typeface="Calibri" pitchFamily="34" charset="-120"/>
              </a:rPr>
              <a:t>Intégrité référentielle entre les tables</a:t>
            </a:r>
            <a:endParaRPr lang="en-US" sz="1450" dirty="0"/>
          </a:p>
        </p:txBody>
      </p:sp>
      <p:sp>
        <p:nvSpPr>
          <p:cNvPr id="13" name="Shape 9"/>
          <p:cNvSpPr/>
          <p:nvPr/>
        </p:nvSpPr>
        <p:spPr>
          <a:xfrm>
            <a:off x="777240" y="3200400"/>
            <a:ext cx="5074920" cy="1234440"/>
          </a:xfrm>
          <a:prstGeom prst="roundRect">
            <a:avLst>
              <a:gd name="adj" fmla="val 7407"/>
            </a:avLst>
          </a:prstGeom>
          <a:solidFill>
            <a:srgbClr val="F5F8FB"/>
          </a:solidFill>
          <a:ln/>
          <a:effectLst>
            <a:outerShdw sx="100000" sy="100000" kx="0" ky="0" algn="bl" rotWithShape="0" blurRad="114300" dist="25400" dir="5400000">
              <a:srgbClr val="1F3A5F">
                <a:alpha val="14000"/>
              </a:srgbClr>
            </a:outerShdw>
          </a:effectLst>
        </p:spPr>
      </p:sp>
      <p:sp>
        <p:nvSpPr>
          <p:cNvPr id="14" name="Shape 10"/>
          <p:cNvSpPr/>
          <p:nvPr/>
        </p:nvSpPr>
        <p:spPr>
          <a:xfrm>
            <a:off x="1051560" y="3456432"/>
            <a:ext cx="731520" cy="731520"/>
          </a:xfrm>
          <a:prstGeom prst="ellipse">
            <a:avLst/>
          </a:prstGeom>
          <a:solidFill>
            <a:srgbClr val="DCE7F2"/>
          </a:solidFill>
          <a:ln/>
        </p:spPr>
      </p:sp>
      <p:pic>
        <p:nvPicPr>
          <p:cNvPr id="15" name="Image 2" descr="icons/checkCircle.png">    </p:cNvPr>
          <p:cNvPicPr>
            <a:picLocks noChangeAspect="1"/>
          </p:cNvPicPr>
          <p:nvPr/>
        </p:nvPicPr>
        <p:blipFill>
          <a:blip r:embed="rId3"/>
          <a:stretch>
            <a:fillRect/>
          </a:stretch>
        </p:blipFill>
        <p:spPr>
          <a:xfrm>
            <a:off x="1216152" y="3621024"/>
            <a:ext cx="402336" cy="402336"/>
          </a:xfrm>
          <a:prstGeom prst="rect">
            <a:avLst/>
          </a:prstGeom>
        </p:spPr>
      </p:pic>
      <p:sp>
        <p:nvSpPr>
          <p:cNvPr id="16" name="Text 11"/>
          <p:cNvSpPr/>
          <p:nvPr/>
        </p:nvSpPr>
        <p:spPr>
          <a:xfrm>
            <a:off x="1965960" y="3474720"/>
            <a:ext cx="3611880" cy="731520"/>
          </a:xfrm>
          <a:prstGeom prst="rect">
            <a:avLst/>
          </a:prstGeom>
          <a:noFill/>
          <a:ln/>
        </p:spPr>
        <p:txBody>
          <a:bodyPr wrap="square" rtlCol="0" anchor="t"/>
          <a:lstStyle/>
          <a:p>
            <a:pPr algn="l" indent="0" marL="0">
              <a:buNone/>
            </a:pPr>
            <a:r>
              <a:rPr lang="en-US" sz="1450" b="1" dirty="0">
                <a:solidFill>
                  <a:srgbClr val="1F3A5F"/>
                </a:solidFill>
                <a:latin typeface="Calibri" pitchFamily="34" charset="0"/>
                <a:ea typeface="Calibri" pitchFamily="34" charset="-122"/>
                <a:cs typeface="Calibri" pitchFamily="34" charset="-120"/>
              </a:rPr>
              <a:t>Cohérence des montants (quantité × prix)</a:t>
            </a:r>
            <a:endParaRPr lang="en-US" sz="1450" dirty="0"/>
          </a:p>
        </p:txBody>
      </p:sp>
      <p:sp>
        <p:nvSpPr>
          <p:cNvPr id="17" name="Shape 12"/>
          <p:cNvSpPr/>
          <p:nvPr/>
        </p:nvSpPr>
        <p:spPr>
          <a:xfrm>
            <a:off x="6126480" y="3200400"/>
            <a:ext cx="5074920" cy="1234440"/>
          </a:xfrm>
          <a:prstGeom prst="roundRect">
            <a:avLst>
              <a:gd name="adj" fmla="val 7407"/>
            </a:avLst>
          </a:prstGeom>
          <a:solidFill>
            <a:srgbClr val="F5F8FB"/>
          </a:solidFill>
          <a:ln/>
          <a:effectLst>
            <a:outerShdw sx="100000" sy="100000" kx="0" ky="0" algn="bl" rotWithShape="0" blurRad="114300" dist="25400" dir="5400000">
              <a:srgbClr val="1F3A5F">
                <a:alpha val="14000"/>
              </a:srgbClr>
            </a:outerShdw>
          </a:effectLst>
        </p:spPr>
      </p:sp>
      <p:sp>
        <p:nvSpPr>
          <p:cNvPr id="18" name="Shape 13"/>
          <p:cNvSpPr/>
          <p:nvPr/>
        </p:nvSpPr>
        <p:spPr>
          <a:xfrm>
            <a:off x="6400800" y="3456432"/>
            <a:ext cx="731520" cy="731520"/>
          </a:xfrm>
          <a:prstGeom prst="ellipse">
            <a:avLst/>
          </a:prstGeom>
          <a:solidFill>
            <a:srgbClr val="DCE7F2"/>
          </a:solidFill>
          <a:ln/>
        </p:spPr>
      </p:sp>
      <p:pic>
        <p:nvPicPr>
          <p:cNvPr id="19" name="Image 3" descr="icons/checkCircle.png">    </p:cNvPr>
          <p:cNvPicPr>
            <a:picLocks noChangeAspect="1"/>
          </p:cNvPicPr>
          <p:nvPr/>
        </p:nvPicPr>
        <p:blipFill>
          <a:blip r:embed="rId4"/>
          <a:stretch>
            <a:fillRect/>
          </a:stretch>
        </p:blipFill>
        <p:spPr>
          <a:xfrm>
            <a:off x="6565392" y="3621024"/>
            <a:ext cx="402336" cy="402336"/>
          </a:xfrm>
          <a:prstGeom prst="rect">
            <a:avLst/>
          </a:prstGeom>
        </p:spPr>
      </p:pic>
      <p:sp>
        <p:nvSpPr>
          <p:cNvPr id="20" name="Text 14"/>
          <p:cNvSpPr/>
          <p:nvPr/>
        </p:nvSpPr>
        <p:spPr>
          <a:xfrm>
            <a:off x="7315200" y="3474720"/>
            <a:ext cx="3611880" cy="731520"/>
          </a:xfrm>
          <a:prstGeom prst="rect">
            <a:avLst/>
          </a:prstGeom>
          <a:noFill/>
          <a:ln/>
        </p:spPr>
        <p:txBody>
          <a:bodyPr wrap="square" rtlCol="0" anchor="t"/>
          <a:lstStyle/>
          <a:p>
            <a:pPr algn="l" indent="0" marL="0">
              <a:buNone/>
            </a:pPr>
            <a:r>
              <a:rPr lang="en-US" sz="1450" b="1" dirty="0">
                <a:solidFill>
                  <a:srgbClr val="1F3A5F"/>
                </a:solidFill>
                <a:latin typeface="Calibri" pitchFamily="34" charset="0"/>
                <a:ea typeface="Calibri" pitchFamily="34" charset="-122"/>
                <a:cs typeface="Calibri" pitchFamily="34" charset="-120"/>
              </a:rPr>
              <a:t>Cohérence devise ↔ origine du produit</a:t>
            </a:r>
            <a:endParaRPr lang="en-US" sz="1450" dirty="0"/>
          </a:p>
        </p:txBody>
      </p:sp>
      <p:sp>
        <p:nvSpPr>
          <p:cNvPr id="21" name="Shape 15"/>
          <p:cNvSpPr/>
          <p:nvPr/>
        </p:nvSpPr>
        <p:spPr>
          <a:xfrm>
            <a:off x="777240" y="5486400"/>
            <a:ext cx="10561320" cy="777240"/>
          </a:xfrm>
          <a:prstGeom prst="roundRect">
            <a:avLst>
              <a:gd name="adj" fmla="val 11765"/>
            </a:avLst>
          </a:prstGeom>
          <a:solidFill>
            <a:srgbClr val="1F3A5F"/>
          </a:solidFill>
          <a:ln/>
          <a:effectLst>
            <a:outerShdw sx="100000" sy="100000" kx="0" ky="0" algn="bl" rotWithShape="0" blurRad="114300" dist="25400" dir="5400000">
              <a:srgbClr val="1F3A5F">
                <a:alpha val="14000"/>
              </a:srgbClr>
            </a:outerShdw>
          </a:effectLst>
        </p:spPr>
      </p:sp>
      <p:sp>
        <p:nvSpPr>
          <p:cNvPr id="22" name="Text 16"/>
          <p:cNvSpPr/>
          <p:nvPr/>
        </p:nvSpPr>
        <p:spPr>
          <a:xfrm>
            <a:off x="777240" y="5687568"/>
            <a:ext cx="10561320" cy="457200"/>
          </a:xfrm>
          <a:prstGeom prst="rect">
            <a:avLst/>
          </a:prstGeom>
          <a:noFill/>
          <a:ln/>
        </p:spPr>
        <p:txBody>
          <a:bodyPr wrap="square"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0 anomalie bloquante détectée sur l'ensemble du jeu de données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Une base relationnelle fiable par construction</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1188720" y="2286000"/>
            <a:ext cx="1554480" cy="1554480"/>
          </a:xfrm>
          <a:prstGeom prst="ellipse">
            <a:avLst/>
          </a:prstGeom>
          <a:solidFill>
            <a:srgbClr val="1F3A5F"/>
          </a:solidFill>
          <a:ln/>
        </p:spPr>
      </p:sp>
      <p:pic>
        <p:nvPicPr>
          <p:cNvPr id="6" name="Image 0" descr="icons/database.png">    </p:cNvPr>
          <p:cNvPicPr>
            <a:picLocks noChangeAspect="1"/>
          </p:cNvPicPr>
          <p:nvPr/>
        </p:nvPicPr>
        <p:blipFill>
          <a:blip r:embed="rId1"/>
          <a:stretch>
            <a:fillRect/>
          </a:stretch>
        </p:blipFill>
        <p:spPr>
          <a:xfrm>
            <a:off x="1577340" y="2674620"/>
            <a:ext cx="777240" cy="777240"/>
          </a:xfrm>
          <a:prstGeom prst="rect">
            <a:avLst/>
          </a:prstGeom>
        </p:spPr>
      </p:pic>
      <p:sp>
        <p:nvSpPr>
          <p:cNvPr id="7" name="Text 4"/>
          <p:cNvSpPr/>
          <p:nvPr/>
        </p:nvSpPr>
        <p:spPr>
          <a:xfrm>
            <a:off x="777240" y="3977640"/>
            <a:ext cx="2377440" cy="365760"/>
          </a:xfrm>
          <a:prstGeom prst="rect">
            <a:avLst/>
          </a:prstGeom>
          <a:noFill/>
          <a:ln/>
        </p:spPr>
        <p:txBody>
          <a:bodyPr wrap="square"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SQLite</a:t>
            </a:r>
            <a:endParaRPr lang="en-US" sz="1500" dirty="0"/>
          </a:p>
        </p:txBody>
      </p:sp>
      <p:sp>
        <p:nvSpPr>
          <p:cNvPr id="8" name="Shape 5"/>
          <p:cNvSpPr/>
          <p:nvPr/>
        </p:nvSpPr>
        <p:spPr>
          <a:xfrm>
            <a:off x="4937760" y="1828800"/>
            <a:ext cx="1920240" cy="868680"/>
          </a:xfrm>
          <a:prstGeom prst="roundRect">
            <a:avLst>
              <a:gd name="adj" fmla="val 10526"/>
            </a:avLst>
          </a:prstGeom>
          <a:solidFill>
            <a:srgbClr val="DCE7F2"/>
          </a:solidFill>
          <a:ln/>
          <a:effectLst>
            <a:outerShdw sx="100000" sy="100000" kx="0" ky="0" algn="bl" rotWithShape="0" blurRad="114300" dist="25400" dir="5400000">
              <a:srgbClr val="1F3A5F">
                <a:alpha val="14000"/>
              </a:srgbClr>
            </a:outerShdw>
          </a:effectLst>
        </p:spPr>
      </p:sp>
      <p:sp>
        <p:nvSpPr>
          <p:cNvPr id="9" name="Text 6"/>
          <p:cNvSpPr/>
          <p:nvPr/>
        </p:nvSpPr>
        <p:spPr>
          <a:xfrm>
            <a:off x="4937760" y="1828800"/>
            <a:ext cx="1920240" cy="86868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CLIENT</a:t>
            </a:r>
            <a:endParaRPr lang="en-US" sz="1300" dirty="0"/>
          </a:p>
        </p:txBody>
      </p:sp>
      <p:sp>
        <p:nvSpPr>
          <p:cNvPr id="10" name="Shape 7"/>
          <p:cNvSpPr/>
          <p:nvPr/>
        </p:nvSpPr>
        <p:spPr>
          <a:xfrm>
            <a:off x="2743200" y="3063240"/>
            <a:ext cx="2194560" cy="-804672"/>
          </a:xfrm>
          <a:prstGeom prst="line">
            <a:avLst/>
          </a:prstGeom>
          <a:noFill/>
          <a:ln w="19050">
            <a:solidFill>
              <a:srgbClr val="D8E2EC"/>
            </a:solidFill>
            <a:prstDash val="solid"/>
          </a:ln>
        </p:spPr>
      </p:sp>
      <p:sp>
        <p:nvSpPr>
          <p:cNvPr id="11" name="Shape 8"/>
          <p:cNvSpPr/>
          <p:nvPr/>
        </p:nvSpPr>
        <p:spPr>
          <a:xfrm>
            <a:off x="4937760" y="2971800"/>
            <a:ext cx="1920240" cy="868680"/>
          </a:xfrm>
          <a:prstGeom prst="roundRect">
            <a:avLst>
              <a:gd name="adj" fmla="val 10526"/>
            </a:avLst>
          </a:prstGeom>
          <a:solidFill>
            <a:srgbClr val="DCE7F2"/>
          </a:solidFill>
          <a:ln/>
          <a:effectLst>
            <a:outerShdw sx="100000" sy="100000" kx="0" ky="0" algn="bl" rotWithShape="0" blurRad="114300" dist="25400" dir="5400000">
              <a:srgbClr val="1F3A5F">
                <a:alpha val="14000"/>
              </a:srgbClr>
            </a:outerShdw>
          </a:effectLst>
        </p:spPr>
      </p:sp>
      <p:sp>
        <p:nvSpPr>
          <p:cNvPr id="12" name="Text 9"/>
          <p:cNvSpPr/>
          <p:nvPr/>
        </p:nvSpPr>
        <p:spPr>
          <a:xfrm>
            <a:off x="4937760" y="2971800"/>
            <a:ext cx="1920240" cy="86868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PANIER</a:t>
            </a:r>
            <a:endParaRPr lang="en-US" sz="1300" dirty="0"/>
          </a:p>
        </p:txBody>
      </p:sp>
      <p:sp>
        <p:nvSpPr>
          <p:cNvPr id="13" name="Shape 10"/>
          <p:cNvSpPr/>
          <p:nvPr/>
        </p:nvSpPr>
        <p:spPr>
          <a:xfrm>
            <a:off x="2743200" y="3063240"/>
            <a:ext cx="2194560" cy="338328"/>
          </a:xfrm>
          <a:prstGeom prst="line">
            <a:avLst/>
          </a:prstGeom>
          <a:noFill/>
          <a:ln w="19050">
            <a:solidFill>
              <a:srgbClr val="D8E2EC"/>
            </a:solidFill>
            <a:prstDash val="solid"/>
          </a:ln>
        </p:spPr>
      </p:sp>
      <p:sp>
        <p:nvSpPr>
          <p:cNvPr id="14" name="Shape 11"/>
          <p:cNvSpPr/>
          <p:nvPr/>
        </p:nvSpPr>
        <p:spPr>
          <a:xfrm>
            <a:off x="4937760" y="4114800"/>
            <a:ext cx="1920240" cy="868680"/>
          </a:xfrm>
          <a:prstGeom prst="roundRect">
            <a:avLst>
              <a:gd name="adj" fmla="val 10526"/>
            </a:avLst>
          </a:prstGeom>
          <a:solidFill>
            <a:srgbClr val="DCE7F2"/>
          </a:solidFill>
          <a:ln/>
          <a:effectLst>
            <a:outerShdw sx="100000" sy="100000" kx="0" ky="0" algn="bl" rotWithShape="0" blurRad="114300" dist="25400" dir="5400000">
              <a:srgbClr val="1F3A5F">
                <a:alpha val="14000"/>
              </a:srgbClr>
            </a:outerShdw>
          </a:effectLst>
        </p:spPr>
      </p:sp>
      <p:sp>
        <p:nvSpPr>
          <p:cNvPr id="15" name="Text 12"/>
          <p:cNvSpPr/>
          <p:nvPr/>
        </p:nvSpPr>
        <p:spPr>
          <a:xfrm>
            <a:off x="4937760" y="4114800"/>
            <a:ext cx="1920240" cy="86868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LIGNE_</a:t>
            </a:r>
            <a:endParaRPr lang="en-US" sz="1300" dirty="0"/>
          </a:p>
          <a:p>
            <a:pPr algn="ctr" indent="0" marL="0">
              <a:buNone/>
            </a:pPr>
            <a:r>
              <a:rPr lang="en-US" sz="1300" b="1" dirty="0">
                <a:solidFill>
                  <a:srgbClr val="1F3A5F"/>
                </a:solidFill>
                <a:latin typeface="Calibri" pitchFamily="34" charset="0"/>
                <a:ea typeface="Calibri" pitchFamily="34" charset="-122"/>
                <a:cs typeface="Calibri" pitchFamily="34" charset="-120"/>
              </a:rPr>
              <a:t>PANIER</a:t>
            </a:r>
            <a:endParaRPr lang="en-US" sz="1300" dirty="0"/>
          </a:p>
        </p:txBody>
      </p:sp>
      <p:sp>
        <p:nvSpPr>
          <p:cNvPr id="16" name="Shape 13"/>
          <p:cNvSpPr/>
          <p:nvPr/>
        </p:nvSpPr>
        <p:spPr>
          <a:xfrm>
            <a:off x="2743200" y="3063240"/>
            <a:ext cx="2194560" cy="1481328"/>
          </a:xfrm>
          <a:prstGeom prst="line">
            <a:avLst/>
          </a:prstGeom>
          <a:noFill/>
          <a:ln w="19050">
            <a:solidFill>
              <a:srgbClr val="D8E2EC"/>
            </a:solidFill>
            <a:prstDash val="solid"/>
          </a:ln>
        </p:spPr>
      </p:sp>
      <p:sp>
        <p:nvSpPr>
          <p:cNvPr id="17" name="Shape 14"/>
          <p:cNvSpPr/>
          <p:nvPr/>
        </p:nvSpPr>
        <p:spPr>
          <a:xfrm>
            <a:off x="4937760" y="5257800"/>
            <a:ext cx="1920240" cy="868680"/>
          </a:xfrm>
          <a:prstGeom prst="roundRect">
            <a:avLst>
              <a:gd name="adj" fmla="val 10526"/>
            </a:avLst>
          </a:prstGeom>
          <a:solidFill>
            <a:srgbClr val="DCE7F2"/>
          </a:solidFill>
          <a:ln/>
          <a:effectLst>
            <a:outerShdw sx="100000" sy="100000" kx="0" ky="0" algn="bl" rotWithShape="0" blurRad="114300" dist="25400" dir="5400000">
              <a:srgbClr val="1F3A5F">
                <a:alpha val="14000"/>
              </a:srgbClr>
            </a:outerShdw>
          </a:effectLst>
        </p:spPr>
      </p:sp>
      <p:sp>
        <p:nvSpPr>
          <p:cNvPr id="18" name="Text 15"/>
          <p:cNvSpPr/>
          <p:nvPr/>
        </p:nvSpPr>
        <p:spPr>
          <a:xfrm>
            <a:off x="4937760" y="5257800"/>
            <a:ext cx="1920240" cy="86868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PRODUIT</a:t>
            </a:r>
            <a:endParaRPr lang="en-US" sz="1300" dirty="0"/>
          </a:p>
        </p:txBody>
      </p:sp>
      <p:sp>
        <p:nvSpPr>
          <p:cNvPr id="19" name="Shape 16"/>
          <p:cNvSpPr/>
          <p:nvPr/>
        </p:nvSpPr>
        <p:spPr>
          <a:xfrm>
            <a:off x="2743200" y="3063240"/>
            <a:ext cx="2194560" cy="2624328"/>
          </a:xfrm>
          <a:prstGeom prst="line">
            <a:avLst/>
          </a:prstGeom>
          <a:noFill/>
          <a:ln w="19050">
            <a:solidFill>
              <a:srgbClr val="D8E2EC"/>
            </a:solidFill>
            <a:prstDash val="solid"/>
          </a:ln>
        </p:spPr>
      </p:sp>
      <p:sp>
        <p:nvSpPr>
          <p:cNvPr id="20" name="Shape 17"/>
          <p:cNvSpPr/>
          <p:nvPr/>
        </p:nvSpPr>
        <p:spPr>
          <a:xfrm>
            <a:off x="7680960" y="1828800"/>
            <a:ext cx="3657600" cy="3977640"/>
          </a:xfrm>
          <a:prstGeom prst="roundRect">
            <a:avLst>
              <a:gd name="adj" fmla="val 2500"/>
            </a:avLst>
          </a:prstGeom>
          <a:solidFill>
            <a:srgbClr val="F5F8FB"/>
          </a:solidFill>
          <a:ln/>
          <a:effectLst>
            <a:outerShdw sx="100000" sy="100000" kx="0" ky="0" algn="bl" rotWithShape="0" blurRad="114300" dist="25400" dir="5400000">
              <a:srgbClr val="1F3A5F">
                <a:alpha val="14000"/>
              </a:srgbClr>
            </a:outerShdw>
          </a:effectLst>
        </p:spPr>
      </p:sp>
      <p:sp>
        <p:nvSpPr>
          <p:cNvPr id="21" name="Text 18"/>
          <p:cNvSpPr/>
          <p:nvPr/>
        </p:nvSpPr>
        <p:spPr>
          <a:xfrm>
            <a:off x="7955280" y="2057400"/>
            <a:ext cx="3200400" cy="365760"/>
          </a:xfrm>
          <a:prstGeom prst="rect">
            <a:avLst/>
          </a:prstGeom>
          <a:noFill/>
          <a:ln/>
        </p:spPr>
        <p:txBody>
          <a:bodyPr wrap="square" rtlCol="0" anchor="t"/>
          <a:lstStyle/>
          <a:p>
            <a:pPr algn="l" indent="0" marL="0">
              <a:buNone/>
            </a:pPr>
            <a:r>
              <a:rPr lang="en-US" sz="1500" b="1" dirty="0">
                <a:solidFill>
                  <a:srgbClr val="1F3A5F"/>
                </a:solidFill>
                <a:latin typeface="Calibri" pitchFamily="34" charset="0"/>
                <a:ea typeface="Calibri" pitchFamily="34" charset="-122"/>
                <a:cs typeface="Calibri" pitchFamily="34" charset="-120"/>
              </a:rPr>
              <a:t>Contraintes CHECK</a:t>
            </a:r>
            <a:endParaRPr lang="en-US" sz="1500" dirty="0"/>
          </a:p>
        </p:txBody>
      </p:sp>
      <p:sp>
        <p:nvSpPr>
          <p:cNvPr id="22" name="Text 19"/>
          <p:cNvSpPr/>
          <p:nvPr/>
        </p:nvSpPr>
        <p:spPr>
          <a:xfrm>
            <a:off x="7955280" y="2560320"/>
            <a:ext cx="3200400" cy="457200"/>
          </a:xfrm>
          <a:prstGeom prst="rect">
            <a:avLst/>
          </a:prstGeom>
          <a:noFill/>
          <a:ln/>
        </p:spPr>
        <p:txBody>
          <a:bodyPr wrap="square" rtlCol="0" anchor="t"/>
          <a:lstStyle/>
          <a:p>
            <a:pPr algn="l" indent="0" marL="0">
              <a:buNone/>
            </a:pPr>
            <a:r>
              <a:rPr lang="en-US" sz="1300" dirty="0">
                <a:solidFill>
                  <a:srgbClr val="5A6B7D"/>
                </a:solidFill>
                <a:latin typeface="Calibri" pitchFamily="34" charset="0"/>
                <a:ea typeface="Calibri" pitchFamily="34" charset="-122"/>
                <a:cs typeface="Calibri" pitchFamily="34" charset="-120"/>
              </a:rPr>
              <a:t>•  Devise ∈ {EUR, USD}</a:t>
            </a:r>
            <a:endParaRPr lang="en-US" sz="1300" dirty="0"/>
          </a:p>
        </p:txBody>
      </p:sp>
      <p:sp>
        <p:nvSpPr>
          <p:cNvPr id="23" name="Text 20"/>
          <p:cNvSpPr/>
          <p:nvPr/>
        </p:nvSpPr>
        <p:spPr>
          <a:xfrm>
            <a:off x="7955280" y="3063240"/>
            <a:ext cx="3200400" cy="457200"/>
          </a:xfrm>
          <a:prstGeom prst="rect">
            <a:avLst/>
          </a:prstGeom>
          <a:noFill/>
          <a:ln/>
        </p:spPr>
        <p:txBody>
          <a:bodyPr wrap="square" rtlCol="0" anchor="t"/>
          <a:lstStyle/>
          <a:p>
            <a:pPr algn="l" indent="0" marL="0">
              <a:buNone/>
            </a:pPr>
            <a:r>
              <a:rPr lang="en-US" sz="1300" dirty="0">
                <a:solidFill>
                  <a:srgbClr val="5A6B7D"/>
                </a:solidFill>
                <a:latin typeface="Calibri" pitchFamily="34" charset="0"/>
                <a:ea typeface="Calibri" pitchFamily="34" charset="-122"/>
                <a:cs typeface="Calibri" pitchFamily="34" charset="-120"/>
              </a:rPr>
              <a:t>•  Origine ∈ {INTERNE, EXTERNE}</a:t>
            </a:r>
            <a:endParaRPr lang="en-US" sz="1300" dirty="0"/>
          </a:p>
        </p:txBody>
      </p:sp>
      <p:sp>
        <p:nvSpPr>
          <p:cNvPr id="24" name="Text 21"/>
          <p:cNvSpPr/>
          <p:nvPr/>
        </p:nvSpPr>
        <p:spPr>
          <a:xfrm>
            <a:off x="7955280" y="3566160"/>
            <a:ext cx="3200400" cy="457200"/>
          </a:xfrm>
          <a:prstGeom prst="rect">
            <a:avLst/>
          </a:prstGeom>
          <a:noFill/>
          <a:ln/>
        </p:spPr>
        <p:txBody>
          <a:bodyPr wrap="square" rtlCol="0" anchor="t"/>
          <a:lstStyle/>
          <a:p>
            <a:pPr algn="l" indent="0" marL="0">
              <a:buNone/>
            </a:pPr>
            <a:r>
              <a:rPr lang="en-US" sz="1300" dirty="0">
                <a:solidFill>
                  <a:srgbClr val="5A6B7D"/>
                </a:solidFill>
                <a:latin typeface="Calibri" pitchFamily="34" charset="0"/>
                <a:ea typeface="Calibri" pitchFamily="34" charset="-122"/>
                <a:cs typeface="Calibri" pitchFamily="34" charset="-120"/>
              </a:rPr>
              <a:t>•  Prix strictement positif</a:t>
            </a:r>
            <a:endParaRPr lang="en-US" sz="1300" dirty="0"/>
          </a:p>
        </p:txBody>
      </p:sp>
      <p:sp>
        <p:nvSpPr>
          <p:cNvPr id="25" name="Text 22"/>
          <p:cNvSpPr/>
          <p:nvPr/>
        </p:nvSpPr>
        <p:spPr>
          <a:xfrm>
            <a:off x="7955280" y="4069080"/>
            <a:ext cx="3200400" cy="457200"/>
          </a:xfrm>
          <a:prstGeom prst="rect">
            <a:avLst/>
          </a:prstGeom>
          <a:noFill/>
          <a:ln/>
        </p:spPr>
        <p:txBody>
          <a:bodyPr wrap="square" rtlCol="0" anchor="t"/>
          <a:lstStyle/>
          <a:p>
            <a:pPr algn="l" indent="0" marL="0">
              <a:buNone/>
            </a:pPr>
            <a:r>
              <a:rPr lang="en-US" sz="1300" dirty="0">
                <a:solidFill>
                  <a:srgbClr val="5A6B7D"/>
                </a:solidFill>
                <a:latin typeface="Calibri" pitchFamily="34" charset="0"/>
                <a:ea typeface="Calibri" pitchFamily="34" charset="-122"/>
                <a:cs typeface="Calibri" pitchFamily="34" charset="-120"/>
              </a:rPr>
              <a:t>•  Cohérence origine ↔ devise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Le projet en quelques chiffres</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722376" y="2377440"/>
            <a:ext cx="2514600" cy="2194560"/>
          </a:xfrm>
          <a:prstGeom prst="roundRect">
            <a:avLst>
              <a:gd name="adj" fmla="val 4167"/>
            </a:avLst>
          </a:prstGeom>
          <a:solidFill>
            <a:srgbClr val="F5F8FB"/>
          </a:solidFill>
          <a:ln/>
          <a:effectLst>
            <a:outerShdw sx="100000" sy="100000" kx="0" ky="0" algn="bl" rotWithShape="0" blurRad="114300" dist="25400" dir="5400000">
              <a:srgbClr val="1F3A5F">
                <a:alpha val="14000"/>
              </a:srgbClr>
            </a:outerShdw>
          </a:effectLst>
        </p:spPr>
      </p:sp>
      <p:sp>
        <p:nvSpPr>
          <p:cNvPr id="6" name="Text 4"/>
          <p:cNvSpPr/>
          <p:nvPr/>
        </p:nvSpPr>
        <p:spPr>
          <a:xfrm>
            <a:off x="722376" y="2788920"/>
            <a:ext cx="2514600" cy="914400"/>
          </a:xfrm>
          <a:prstGeom prst="rect">
            <a:avLst/>
          </a:prstGeom>
          <a:noFill/>
          <a:ln/>
        </p:spPr>
        <p:txBody>
          <a:bodyPr wrap="square" rtlCol="0" anchor="t"/>
          <a:lstStyle/>
          <a:p>
            <a:pPr algn="ctr" indent="0" marL="0">
              <a:buNone/>
            </a:pPr>
            <a:r>
              <a:rPr lang="en-US" sz="4000" b="1" dirty="0">
                <a:solidFill>
                  <a:srgbClr val="3D6FA5"/>
                </a:solidFill>
                <a:latin typeface="Calibri" pitchFamily="34" charset="0"/>
                <a:ea typeface="Calibri" pitchFamily="34" charset="-122"/>
                <a:cs typeface="Calibri" pitchFamily="34" charset="-120"/>
              </a:rPr>
              <a:t>435</a:t>
            </a:r>
            <a:endParaRPr lang="en-US" sz="4000" dirty="0"/>
          </a:p>
        </p:txBody>
      </p:sp>
      <p:sp>
        <p:nvSpPr>
          <p:cNvPr id="7" name="Text 5"/>
          <p:cNvSpPr/>
          <p:nvPr/>
        </p:nvSpPr>
        <p:spPr>
          <a:xfrm>
            <a:off x="905256" y="3794760"/>
            <a:ext cx="2148840" cy="548640"/>
          </a:xfrm>
          <a:prstGeom prst="rect">
            <a:avLst/>
          </a:prstGeom>
          <a:noFill/>
          <a:ln/>
        </p:spPr>
        <p:txBody>
          <a:bodyPr wrap="square" rtlCol="0" anchor="t"/>
          <a:lstStyle/>
          <a:p>
            <a:pPr algn="ctr" indent="0" marL="0">
              <a:buNone/>
            </a:pPr>
            <a:r>
              <a:rPr lang="en-US" sz="1350" b="1" dirty="0">
                <a:solidFill>
                  <a:srgbClr val="1F3A5F"/>
                </a:solidFill>
                <a:latin typeface="Calibri" pitchFamily="34" charset="0"/>
                <a:ea typeface="Calibri" pitchFamily="34" charset="-122"/>
                <a:cs typeface="Calibri" pitchFamily="34" charset="-120"/>
              </a:rPr>
              <a:t>Clients</a:t>
            </a:r>
            <a:endParaRPr lang="en-US" sz="1350" dirty="0"/>
          </a:p>
        </p:txBody>
      </p:sp>
      <p:sp>
        <p:nvSpPr>
          <p:cNvPr id="8" name="Shape 6"/>
          <p:cNvSpPr/>
          <p:nvPr/>
        </p:nvSpPr>
        <p:spPr>
          <a:xfrm>
            <a:off x="3465576" y="2377440"/>
            <a:ext cx="2514600" cy="2194560"/>
          </a:xfrm>
          <a:prstGeom prst="roundRect">
            <a:avLst>
              <a:gd name="adj" fmla="val 4167"/>
            </a:avLst>
          </a:prstGeom>
          <a:solidFill>
            <a:srgbClr val="F5F8FB"/>
          </a:solidFill>
          <a:ln/>
          <a:effectLst>
            <a:outerShdw sx="100000" sy="100000" kx="0" ky="0" algn="bl" rotWithShape="0" blurRad="114300" dist="25400" dir="5400000">
              <a:srgbClr val="1F3A5F">
                <a:alpha val="14000"/>
              </a:srgbClr>
            </a:outerShdw>
          </a:effectLst>
        </p:spPr>
      </p:sp>
      <p:sp>
        <p:nvSpPr>
          <p:cNvPr id="9" name="Text 7"/>
          <p:cNvSpPr/>
          <p:nvPr/>
        </p:nvSpPr>
        <p:spPr>
          <a:xfrm>
            <a:off x="3465576" y="2788920"/>
            <a:ext cx="2514600" cy="914400"/>
          </a:xfrm>
          <a:prstGeom prst="rect">
            <a:avLst/>
          </a:prstGeom>
          <a:noFill/>
          <a:ln/>
        </p:spPr>
        <p:txBody>
          <a:bodyPr wrap="square" rtlCol="0" anchor="t"/>
          <a:lstStyle/>
          <a:p>
            <a:pPr algn="ctr" indent="0" marL="0">
              <a:buNone/>
            </a:pPr>
            <a:r>
              <a:rPr lang="en-US" sz="4000" b="1" dirty="0">
                <a:solidFill>
                  <a:srgbClr val="3D6FA5"/>
                </a:solidFill>
                <a:latin typeface="Calibri" pitchFamily="34" charset="0"/>
                <a:ea typeface="Calibri" pitchFamily="34" charset="-122"/>
                <a:cs typeface="Calibri" pitchFamily="34" charset="-120"/>
              </a:rPr>
              <a:t>200</a:t>
            </a:r>
            <a:endParaRPr lang="en-US" sz="4000" dirty="0"/>
          </a:p>
        </p:txBody>
      </p:sp>
      <p:sp>
        <p:nvSpPr>
          <p:cNvPr id="10" name="Text 8"/>
          <p:cNvSpPr/>
          <p:nvPr/>
        </p:nvSpPr>
        <p:spPr>
          <a:xfrm>
            <a:off x="3648456" y="3794760"/>
            <a:ext cx="2148840" cy="548640"/>
          </a:xfrm>
          <a:prstGeom prst="rect">
            <a:avLst/>
          </a:prstGeom>
          <a:noFill/>
          <a:ln/>
        </p:spPr>
        <p:txBody>
          <a:bodyPr wrap="square" rtlCol="0" anchor="t"/>
          <a:lstStyle/>
          <a:p>
            <a:pPr algn="ctr" indent="0" marL="0">
              <a:buNone/>
            </a:pPr>
            <a:r>
              <a:rPr lang="en-US" sz="1350" b="1" dirty="0">
                <a:solidFill>
                  <a:srgbClr val="1F3A5F"/>
                </a:solidFill>
                <a:latin typeface="Calibri" pitchFamily="34" charset="0"/>
                <a:ea typeface="Calibri" pitchFamily="34" charset="-122"/>
                <a:cs typeface="Calibri" pitchFamily="34" charset="-120"/>
              </a:rPr>
              <a:t>Produits</a:t>
            </a:r>
            <a:endParaRPr lang="en-US" sz="1350" dirty="0"/>
          </a:p>
        </p:txBody>
      </p:sp>
      <p:sp>
        <p:nvSpPr>
          <p:cNvPr id="11" name="Shape 9"/>
          <p:cNvSpPr/>
          <p:nvPr/>
        </p:nvSpPr>
        <p:spPr>
          <a:xfrm>
            <a:off x="6208776" y="2377440"/>
            <a:ext cx="2514600" cy="2194560"/>
          </a:xfrm>
          <a:prstGeom prst="roundRect">
            <a:avLst>
              <a:gd name="adj" fmla="val 4167"/>
            </a:avLst>
          </a:prstGeom>
          <a:solidFill>
            <a:srgbClr val="F5F8FB"/>
          </a:solidFill>
          <a:ln/>
          <a:effectLst>
            <a:outerShdw sx="100000" sy="100000" kx="0" ky="0" algn="bl" rotWithShape="0" blurRad="114300" dist="25400" dir="5400000">
              <a:srgbClr val="1F3A5F">
                <a:alpha val="14000"/>
              </a:srgbClr>
            </a:outerShdw>
          </a:effectLst>
        </p:spPr>
      </p:sp>
      <p:sp>
        <p:nvSpPr>
          <p:cNvPr id="12" name="Text 10"/>
          <p:cNvSpPr/>
          <p:nvPr/>
        </p:nvSpPr>
        <p:spPr>
          <a:xfrm>
            <a:off x="6208776" y="2788920"/>
            <a:ext cx="2514600" cy="914400"/>
          </a:xfrm>
          <a:prstGeom prst="rect">
            <a:avLst/>
          </a:prstGeom>
          <a:noFill/>
          <a:ln/>
        </p:spPr>
        <p:txBody>
          <a:bodyPr wrap="square" rtlCol="0" anchor="t"/>
          <a:lstStyle/>
          <a:p>
            <a:pPr algn="ctr" indent="0" marL="0">
              <a:buNone/>
            </a:pPr>
            <a:r>
              <a:rPr lang="en-US" sz="4000" b="1" dirty="0">
                <a:solidFill>
                  <a:srgbClr val="3D6FA5"/>
                </a:solidFill>
                <a:latin typeface="Calibri" pitchFamily="34" charset="0"/>
                <a:ea typeface="Calibri" pitchFamily="34" charset="-122"/>
                <a:cs typeface="Calibri" pitchFamily="34" charset="-120"/>
              </a:rPr>
              <a:t>10 343</a:t>
            </a:r>
            <a:endParaRPr lang="en-US" sz="4000" dirty="0"/>
          </a:p>
        </p:txBody>
      </p:sp>
      <p:sp>
        <p:nvSpPr>
          <p:cNvPr id="13" name="Text 11"/>
          <p:cNvSpPr/>
          <p:nvPr/>
        </p:nvSpPr>
        <p:spPr>
          <a:xfrm>
            <a:off x="6391656" y="3794760"/>
            <a:ext cx="2148840" cy="548640"/>
          </a:xfrm>
          <a:prstGeom prst="rect">
            <a:avLst/>
          </a:prstGeom>
          <a:noFill/>
          <a:ln/>
        </p:spPr>
        <p:txBody>
          <a:bodyPr wrap="square" rtlCol="0" anchor="t"/>
          <a:lstStyle/>
          <a:p>
            <a:pPr algn="ctr" indent="0" marL="0">
              <a:buNone/>
            </a:pPr>
            <a:r>
              <a:rPr lang="en-US" sz="1350" b="1" dirty="0">
                <a:solidFill>
                  <a:srgbClr val="1F3A5F"/>
                </a:solidFill>
                <a:latin typeface="Calibri" pitchFamily="34" charset="0"/>
                <a:ea typeface="Calibri" pitchFamily="34" charset="-122"/>
                <a:cs typeface="Calibri" pitchFamily="34" charset="-120"/>
              </a:rPr>
              <a:t>Lignes de vente</a:t>
            </a:r>
            <a:endParaRPr lang="en-US" sz="1350" dirty="0"/>
          </a:p>
        </p:txBody>
      </p:sp>
      <p:sp>
        <p:nvSpPr>
          <p:cNvPr id="14" name="Shape 12"/>
          <p:cNvSpPr/>
          <p:nvPr/>
        </p:nvSpPr>
        <p:spPr>
          <a:xfrm>
            <a:off x="8951976" y="2377440"/>
            <a:ext cx="2514600" cy="2194560"/>
          </a:xfrm>
          <a:prstGeom prst="roundRect">
            <a:avLst>
              <a:gd name="adj" fmla="val 4167"/>
            </a:avLst>
          </a:prstGeom>
          <a:solidFill>
            <a:srgbClr val="1F3A5F"/>
          </a:solidFill>
          <a:ln/>
          <a:effectLst>
            <a:outerShdw sx="100000" sy="100000" kx="0" ky="0" algn="bl" rotWithShape="0" blurRad="114300" dist="25400" dir="5400000">
              <a:srgbClr val="1F3A5F">
                <a:alpha val="14000"/>
              </a:srgbClr>
            </a:outerShdw>
          </a:effectLst>
        </p:spPr>
      </p:sp>
      <p:sp>
        <p:nvSpPr>
          <p:cNvPr id="15" name="Text 13"/>
          <p:cNvSpPr/>
          <p:nvPr/>
        </p:nvSpPr>
        <p:spPr>
          <a:xfrm>
            <a:off x="8951976" y="2788920"/>
            <a:ext cx="2514600" cy="914400"/>
          </a:xfrm>
          <a:prstGeom prst="rect">
            <a:avLst/>
          </a:prstGeom>
          <a:noFill/>
          <a:ln/>
        </p:spPr>
        <p:txBody>
          <a:bodyPr wrap="square" rtlCol="0" anchor="t"/>
          <a:lstStyle/>
          <a:p>
            <a:pPr algn="ctr" indent="0" marL="0">
              <a:buNone/>
            </a:pPr>
            <a:r>
              <a:rPr lang="en-US" sz="4000" b="1" dirty="0">
                <a:solidFill>
                  <a:srgbClr val="FFFFFF"/>
                </a:solidFill>
                <a:latin typeface="Calibri" pitchFamily="34" charset="0"/>
                <a:ea typeface="Calibri" pitchFamily="34" charset="-122"/>
                <a:cs typeface="Calibri" pitchFamily="34" charset="-120"/>
              </a:rPr>
              <a:t>0</a:t>
            </a:r>
            <a:endParaRPr lang="en-US" sz="4000" dirty="0"/>
          </a:p>
        </p:txBody>
      </p:sp>
      <p:sp>
        <p:nvSpPr>
          <p:cNvPr id="16" name="Text 14"/>
          <p:cNvSpPr/>
          <p:nvPr/>
        </p:nvSpPr>
        <p:spPr>
          <a:xfrm>
            <a:off x="9134856" y="3794760"/>
            <a:ext cx="2148840" cy="548640"/>
          </a:xfrm>
          <a:prstGeom prst="rect">
            <a:avLst/>
          </a:prstGeom>
          <a:noFill/>
          <a:ln/>
        </p:spPr>
        <p:txBody>
          <a:bodyPr wrap="square" rtlCol="0" anchor="t"/>
          <a:lstStyle/>
          <a:p>
            <a:pPr algn="ctr" indent="0" marL="0">
              <a:buNone/>
            </a:pPr>
            <a:r>
              <a:rPr lang="en-US" sz="1350" b="1" dirty="0">
                <a:solidFill>
                  <a:srgbClr val="DCE7F2"/>
                </a:solidFill>
                <a:latin typeface="Calibri" pitchFamily="34" charset="0"/>
                <a:ea typeface="Calibri" pitchFamily="34" charset="-122"/>
                <a:cs typeface="Calibri" pitchFamily="34" charset="-120"/>
              </a:rPr>
              <a:t>Anomalie bloquante</a:t>
            </a:r>
            <a:endParaRPr lang="en-US" sz="1350" dirty="0"/>
          </a:p>
        </p:txBody>
      </p:sp>
      <p:sp>
        <p:nvSpPr>
          <p:cNvPr id="17" name="Text 15"/>
          <p:cNvSpPr/>
          <p:nvPr/>
        </p:nvSpPr>
        <p:spPr>
          <a:xfrm>
            <a:off x="777240" y="5029200"/>
            <a:ext cx="10607040" cy="457200"/>
          </a:xfrm>
          <a:prstGeom prst="rect">
            <a:avLst/>
          </a:prstGeom>
          <a:noFill/>
          <a:ln/>
        </p:spPr>
        <p:txBody>
          <a:bodyPr wrap="square" rtlCol="0" anchor="t"/>
          <a:lstStyle/>
          <a:p>
            <a:pPr algn="ctr" indent="0" marL="0">
              <a:buNone/>
            </a:pPr>
            <a:r>
              <a:rPr lang="en-US" sz="1400" i="1" dirty="0">
                <a:solidFill>
                  <a:srgbClr val="5A6B7D"/>
                </a:solidFill>
                <a:latin typeface="Calibri" pitchFamily="34" charset="0"/>
                <a:ea typeface="Calibri" pitchFamily="34" charset="-122"/>
                <a:cs typeface="Calibri" pitchFamily="34" charset="-120"/>
              </a:rPr>
              <a:t>Un pipeline exécuté avec succès, du fichier source à la base relationnelle.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Valoriser la donnée : un pilotage visuel</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1458468" y="1261872"/>
            <a:ext cx="9272016" cy="5457225"/>
          </a:xfrm>
          <a:prstGeom prst="roundRect">
            <a:avLst>
              <a:gd name="adj" fmla="val 838"/>
            </a:avLst>
          </a:prstGeom>
          <a:solidFill>
            <a:srgbClr val="F5F8FB"/>
          </a:solidFill>
          <a:ln/>
          <a:effectLst>
            <a:outerShdw sx="100000" sy="100000" kx="0" ky="0" algn="bl" rotWithShape="0" blurRad="114300" dist="25400" dir="5400000">
              <a:srgbClr val="1F3A5F">
                <a:alpha val="14000"/>
              </a:srgbClr>
            </a:outerShdw>
          </a:effectLst>
        </p:spPr>
      </p:sp>
      <p:pic>
        <p:nvPicPr>
          <p:cNvPr id="6" name="Image 0" descr="powerbi_dashboard_v2.png">    </p:cNvPr>
          <p:cNvPicPr>
            <a:picLocks noChangeAspect="1"/>
          </p:cNvPicPr>
          <p:nvPr/>
        </p:nvPicPr>
        <p:blipFill>
          <a:blip r:embed="rId1"/>
          <a:stretch>
            <a:fillRect/>
          </a:stretch>
        </p:blipFill>
        <p:spPr>
          <a:xfrm>
            <a:off x="1568196" y="1371600"/>
            <a:ext cx="9052560" cy="5237769"/>
          </a:xfrm>
          <a:prstGeom prst="rect">
            <a:avLst/>
          </a:prstGeom>
        </p:spPr>
      </p:pic>
      <p:sp>
        <p:nvSpPr>
          <p:cNvPr id="7" name="Text 4"/>
          <p:cNvSpPr/>
          <p:nvPr/>
        </p:nvSpPr>
        <p:spPr>
          <a:xfrm>
            <a:off x="777240" y="6810537"/>
            <a:ext cx="10607040" cy="365760"/>
          </a:xfrm>
          <a:prstGeom prst="rect">
            <a:avLst/>
          </a:prstGeom>
          <a:noFill/>
          <a:ln/>
        </p:spPr>
        <p:txBody>
          <a:bodyPr wrap="square" rtlCol="0" anchor="t"/>
          <a:lstStyle/>
          <a:p>
            <a:pPr algn="ctr" indent="0" marL="0">
              <a:buNone/>
            </a:pPr>
            <a:r>
              <a:rPr lang="en-US" sz="1350" b="1" dirty="0">
                <a:solidFill>
                  <a:srgbClr val="3D6FA5"/>
                </a:solidFill>
                <a:latin typeface="Calibri" pitchFamily="34" charset="0"/>
                <a:ea typeface="Calibri" pitchFamily="34" charset="-122"/>
                <a:cs typeface="Calibri" pitchFamily="34" charset="-120"/>
              </a:rPr>
              <a:t>4 indicateurs clés  •  4 visualisations  •  2 filtres interactifs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Passer du poste local au cloud</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777240" y="2377440"/>
            <a:ext cx="1051560" cy="1051560"/>
          </a:xfrm>
          <a:prstGeom prst="ellipse">
            <a:avLst/>
          </a:prstGeom>
          <a:solidFill>
            <a:srgbClr val="DCE7F2"/>
          </a:solidFill>
          <a:ln/>
        </p:spPr>
      </p:sp>
      <p:pic>
        <p:nvPicPr>
          <p:cNvPr id="6" name="Image 0" descr="icons/github.png">    </p:cNvPr>
          <p:cNvPicPr>
            <a:picLocks noChangeAspect="1"/>
          </p:cNvPicPr>
          <p:nvPr/>
        </p:nvPicPr>
        <p:blipFill>
          <a:blip r:embed="rId1"/>
          <a:stretch>
            <a:fillRect/>
          </a:stretch>
        </p:blipFill>
        <p:spPr>
          <a:xfrm>
            <a:off x="1040130" y="2640330"/>
            <a:ext cx="525780" cy="525780"/>
          </a:xfrm>
          <a:prstGeom prst="rect">
            <a:avLst/>
          </a:prstGeom>
        </p:spPr>
      </p:pic>
      <p:sp>
        <p:nvSpPr>
          <p:cNvPr id="7" name="Text 4"/>
          <p:cNvSpPr/>
          <p:nvPr/>
        </p:nvSpPr>
        <p:spPr>
          <a:xfrm>
            <a:off x="502920" y="3538728"/>
            <a:ext cx="1600200" cy="320040"/>
          </a:xfrm>
          <a:prstGeom prst="rect">
            <a:avLst/>
          </a:prstGeom>
          <a:noFill/>
          <a:ln/>
        </p:spPr>
        <p:txBody>
          <a:bodyPr wrap="square" rtlCol="0" anchor="t"/>
          <a:lstStyle/>
          <a:p>
            <a:pPr algn="ctr" indent="0" marL="0">
              <a:buNone/>
            </a:pPr>
            <a:r>
              <a:rPr lang="en-US" sz="1250" b="1" dirty="0">
                <a:solidFill>
                  <a:srgbClr val="1F3A5F"/>
                </a:solidFill>
                <a:latin typeface="Calibri" pitchFamily="34" charset="0"/>
                <a:ea typeface="Calibri" pitchFamily="34" charset="-122"/>
                <a:cs typeface="Calibri" pitchFamily="34" charset="-120"/>
              </a:rPr>
              <a:t>GitHub</a:t>
            </a:r>
            <a:endParaRPr lang="en-US" sz="1250" dirty="0"/>
          </a:p>
        </p:txBody>
      </p:sp>
      <p:sp>
        <p:nvSpPr>
          <p:cNvPr id="8" name="Shape 5"/>
          <p:cNvSpPr/>
          <p:nvPr/>
        </p:nvSpPr>
        <p:spPr>
          <a:xfrm>
            <a:off x="1965960" y="2903220"/>
            <a:ext cx="777240" cy="0"/>
          </a:xfrm>
          <a:prstGeom prst="line">
            <a:avLst/>
          </a:prstGeom>
          <a:noFill/>
          <a:ln w="28575">
            <a:solidFill>
              <a:srgbClr val="1F3A5F"/>
            </a:solidFill>
            <a:prstDash val="solid"/>
            <a:tailEnd type="triangle"/>
          </a:ln>
        </p:spPr>
      </p:sp>
      <p:sp>
        <p:nvSpPr>
          <p:cNvPr id="9" name="Shape 6"/>
          <p:cNvSpPr/>
          <p:nvPr/>
        </p:nvSpPr>
        <p:spPr>
          <a:xfrm>
            <a:off x="2880360" y="2057400"/>
            <a:ext cx="5120640" cy="2651760"/>
          </a:xfrm>
          <a:prstGeom prst="roundRect">
            <a:avLst>
              <a:gd name="adj" fmla="val 3448"/>
            </a:avLst>
          </a:prstGeom>
          <a:solidFill>
            <a:srgbClr val="1F3A5F"/>
          </a:solidFill>
          <a:ln/>
          <a:effectLst>
            <a:outerShdw sx="100000" sy="100000" kx="0" ky="0" algn="bl" rotWithShape="0" blurRad="114300" dist="25400" dir="5400000">
              <a:srgbClr val="1F3A5F">
                <a:alpha val="14000"/>
              </a:srgbClr>
            </a:outerShdw>
          </a:effectLst>
        </p:spPr>
      </p:sp>
      <p:sp>
        <p:nvSpPr>
          <p:cNvPr id="10" name="Shape 7"/>
          <p:cNvSpPr/>
          <p:nvPr/>
        </p:nvSpPr>
        <p:spPr>
          <a:xfrm>
            <a:off x="3154680" y="2286000"/>
            <a:ext cx="777240" cy="777240"/>
          </a:xfrm>
          <a:prstGeom prst="ellipse">
            <a:avLst/>
          </a:prstGeom>
          <a:solidFill>
            <a:srgbClr val="3D6FA5"/>
          </a:solidFill>
          <a:ln/>
        </p:spPr>
      </p:sp>
      <p:pic>
        <p:nvPicPr>
          <p:cNvPr id="11" name="Image 1" descr="icons/linux.png">    </p:cNvPr>
          <p:cNvPicPr>
            <a:picLocks noChangeAspect="1"/>
          </p:cNvPicPr>
          <p:nvPr/>
        </p:nvPicPr>
        <p:blipFill>
          <a:blip r:embed="rId2"/>
          <a:stretch>
            <a:fillRect/>
          </a:stretch>
        </p:blipFill>
        <p:spPr>
          <a:xfrm>
            <a:off x="3348990" y="2480310"/>
            <a:ext cx="388620" cy="388620"/>
          </a:xfrm>
          <a:prstGeom prst="rect">
            <a:avLst/>
          </a:prstGeom>
        </p:spPr>
      </p:pic>
      <p:sp>
        <p:nvSpPr>
          <p:cNvPr id="12" name="Text 8"/>
          <p:cNvSpPr/>
          <p:nvPr/>
        </p:nvSpPr>
        <p:spPr>
          <a:xfrm>
            <a:off x="4114800" y="2359152"/>
            <a:ext cx="3749040" cy="320040"/>
          </a:xfrm>
          <a:prstGeom prst="rect">
            <a:avLst/>
          </a:prstGeom>
          <a:noFill/>
          <a:ln/>
        </p:spPr>
        <p:txBody>
          <a:bodyPr wrap="square"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Instance EC2 — Ubuntu</a:t>
            </a:r>
            <a:endParaRPr lang="en-US" sz="1400" dirty="0"/>
          </a:p>
        </p:txBody>
      </p:sp>
      <p:sp>
        <p:nvSpPr>
          <p:cNvPr id="13" name="Text 9"/>
          <p:cNvSpPr/>
          <p:nvPr/>
        </p:nvSpPr>
        <p:spPr>
          <a:xfrm>
            <a:off x="3154680" y="3154680"/>
            <a:ext cx="4572000" cy="365760"/>
          </a:xfrm>
          <a:prstGeom prst="rect">
            <a:avLst/>
          </a:prstGeom>
          <a:noFill/>
          <a:ln/>
        </p:spPr>
        <p:txBody>
          <a:bodyPr wrap="square" rtlCol="0" anchor="t"/>
          <a:lstStyle/>
          <a:p>
            <a:pPr algn="l" indent="0" marL="0">
              <a:buNone/>
            </a:pPr>
            <a:r>
              <a:rPr lang="en-US" sz="1250" dirty="0">
                <a:solidFill>
                  <a:srgbClr val="DCE7F2"/>
                </a:solidFill>
                <a:latin typeface="Calibri" pitchFamily="34" charset="0"/>
                <a:ea typeface="Calibri" pitchFamily="34" charset="-122"/>
                <a:cs typeface="Calibri" pitchFamily="34" charset="-120"/>
              </a:rPr>
              <a:t>•  git clone du dépôt GitHub</a:t>
            </a:r>
            <a:endParaRPr lang="en-US" sz="1250" dirty="0"/>
          </a:p>
        </p:txBody>
      </p:sp>
      <p:sp>
        <p:nvSpPr>
          <p:cNvPr id="14" name="Text 10"/>
          <p:cNvSpPr/>
          <p:nvPr/>
        </p:nvSpPr>
        <p:spPr>
          <a:xfrm>
            <a:off x="3154680" y="3538728"/>
            <a:ext cx="4572000" cy="365760"/>
          </a:xfrm>
          <a:prstGeom prst="rect">
            <a:avLst/>
          </a:prstGeom>
          <a:noFill/>
          <a:ln/>
        </p:spPr>
        <p:txBody>
          <a:bodyPr wrap="square" rtlCol="0" anchor="t"/>
          <a:lstStyle/>
          <a:p>
            <a:pPr algn="l" indent="0" marL="0">
              <a:buNone/>
            </a:pPr>
            <a:r>
              <a:rPr lang="en-US" sz="1250" dirty="0">
                <a:solidFill>
                  <a:srgbClr val="DCE7F2"/>
                </a:solidFill>
                <a:latin typeface="Calibri" pitchFamily="34" charset="0"/>
                <a:ea typeface="Calibri" pitchFamily="34" charset="-122"/>
                <a:cs typeface="Calibri" pitchFamily="34" charset="-120"/>
              </a:rPr>
              <a:t>•  Environnement virtuel Python (venv)</a:t>
            </a:r>
            <a:endParaRPr lang="en-US" sz="1250" dirty="0"/>
          </a:p>
        </p:txBody>
      </p:sp>
      <p:sp>
        <p:nvSpPr>
          <p:cNvPr id="15" name="Text 11"/>
          <p:cNvSpPr/>
          <p:nvPr/>
        </p:nvSpPr>
        <p:spPr>
          <a:xfrm>
            <a:off x="3154680" y="3922776"/>
            <a:ext cx="4572000" cy="365760"/>
          </a:xfrm>
          <a:prstGeom prst="rect">
            <a:avLst/>
          </a:prstGeom>
          <a:noFill/>
          <a:ln/>
        </p:spPr>
        <p:txBody>
          <a:bodyPr wrap="square" rtlCol="0" anchor="t"/>
          <a:lstStyle/>
          <a:p>
            <a:pPr algn="l" indent="0" marL="0">
              <a:buNone/>
            </a:pPr>
            <a:r>
              <a:rPr lang="en-US" sz="1250" dirty="0">
                <a:solidFill>
                  <a:srgbClr val="DCE7F2"/>
                </a:solidFill>
                <a:latin typeface="Calibri" pitchFamily="34" charset="0"/>
                <a:ea typeface="Calibri" pitchFamily="34" charset="-122"/>
                <a:cs typeface="Calibri" pitchFamily="34" charset="-120"/>
              </a:rPr>
              <a:t>•  Installation via requirements.txt</a:t>
            </a:r>
            <a:endParaRPr lang="en-US" sz="1250" dirty="0"/>
          </a:p>
        </p:txBody>
      </p:sp>
      <p:sp>
        <p:nvSpPr>
          <p:cNvPr id="16" name="Text 12"/>
          <p:cNvSpPr/>
          <p:nvPr/>
        </p:nvSpPr>
        <p:spPr>
          <a:xfrm>
            <a:off x="3154680" y="4306824"/>
            <a:ext cx="4572000" cy="365760"/>
          </a:xfrm>
          <a:prstGeom prst="rect">
            <a:avLst/>
          </a:prstGeom>
          <a:noFill/>
          <a:ln/>
        </p:spPr>
        <p:txBody>
          <a:bodyPr wrap="square" rtlCol="0" anchor="t"/>
          <a:lstStyle/>
          <a:p>
            <a:pPr algn="l" indent="0" marL="0">
              <a:buNone/>
            </a:pPr>
            <a:r>
              <a:rPr lang="en-US" sz="1250" dirty="0">
                <a:solidFill>
                  <a:srgbClr val="DCE7F2"/>
                </a:solidFill>
                <a:latin typeface="Calibri" pitchFamily="34" charset="0"/>
                <a:ea typeface="Calibri" pitchFamily="34" charset="-122"/>
                <a:cs typeface="Calibri" pitchFamily="34" charset="-120"/>
              </a:rPr>
              <a:t>•  Vérification de l'environnement</a:t>
            </a:r>
            <a:endParaRPr lang="en-US" sz="1250" dirty="0"/>
          </a:p>
        </p:txBody>
      </p:sp>
      <p:sp>
        <p:nvSpPr>
          <p:cNvPr id="17" name="Shape 13"/>
          <p:cNvSpPr/>
          <p:nvPr/>
        </p:nvSpPr>
        <p:spPr>
          <a:xfrm>
            <a:off x="8138160" y="2903220"/>
            <a:ext cx="777240" cy="0"/>
          </a:xfrm>
          <a:prstGeom prst="line">
            <a:avLst/>
          </a:prstGeom>
          <a:noFill/>
          <a:ln w="28575">
            <a:solidFill>
              <a:srgbClr val="1F3A5F"/>
            </a:solidFill>
            <a:prstDash val="solid"/>
            <a:tailEnd type="triangle"/>
          </a:ln>
        </p:spPr>
      </p:sp>
      <p:sp>
        <p:nvSpPr>
          <p:cNvPr id="18" name="Shape 14"/>
          <p:cNvSpPr/>
          <p:nvPr/>
        </p:nvSpPr>
        <p:spPr>
          <a:xfrm>
            <a:off x="9052560" y="2377440"/>
            <a:ext cx="1051560" cy="1051560"/>
          </a:xfrm>
          <a:prstGeom prst="ellipse">
            <a:avLst/>
          </a:prstGeom>
          <a:solidFill>
            <a:srgbClr val="DCE7F2"/>
          </a:solidFill>
          <a:ln/>
        </p:spPr>
      </p:sp>
      <p:pic>
        <p:nvPicPr>
          <p:cNvPr id="19" name="Image 2" descr="icons/python.png">    </p:cNvPr>
          <p:cNvPicPr>
            <a:picLocks noChangeAspect="1"/>
          </p:cNvPicPr>
          <p:nvPr/>
        </p:nvPicPr>
        <p:blipFill>
          <a:blip r:embed="rId3"/>
          <a:stretch>
            <a:fillRect/>
          </a:stretch>
        </p:blipFill>
        <p:spPr>
          <a:xfrm>
            <a:off x="9315450" y="2640330"/>
            <a:ext cx="525780" cy="525780"/>
          </a:xfrm>
          <a:prstGeom prst="rect">
            <a:avLst/>
          </a:prstGeom>
        </p:spPr>
      </p:pic>
      <p:sp>
        <p:nvSpPr>
          <p:cNvPr id="20" name="Text 15"/>
          <p:cNvSpPr/>
          <p:nvPr/>
        </p:nvSpPr>
        <p:spPr>
          <a:xfrm>
            <a:off x="8732520" y="3538728"/>
            <a:ext cx="1691640" cy="548640"/>
          </a:xfrm>
          <a:prstGeom prst="rect">
            <a:avLst/>
          </a:prstGeom>
          <a:noFill/>
          <a:ln/>
        </p:spPr>
        <p:txBody>
          <a:bodyPr wrap="square" rtlCol="0" anchor="t"/>
          <a:lstStyle/>
          <a:p>
            <a:pPr algn="ctr" indent="0" marL="0">
              <a:buNone/>
            </a:pPr>
            <a:r>
              <a:rPr lang="en-US" sz="1200" b="1" dirty="0">
                <a:solidFill>
                  <a:srgbClr val="1F3A5F"/>
                </a:solidFill>
                <a:latin typeface="Calibri" pitchFamily="34" charset="0"/>
                <a:ea typeface="Calibri" pitchFamily="34" charset="-122"/>
                <a:cs typeface="Calibri" pitchFamily="34" charset="-120"/>
              </a:rPr>
              <a:t>Pipeline</a:t>
            </a:r>
            <a:endParaRPr lang="en-US" sz="1200" dirty="0"/>
          </a:p>
          <a:p>
            <a:pPr algn="ctr" indent="0" marL="0">
              <a:buNone/>
            </a:pPr>
            <a:r>
              <a:rPr lang="en-US" sz="1200" b="1" dirty="0">
                <a:solidFill>
                  <a:srgbClr val="1F3A5F"/>
                </a:solidFill>
                <a:latin typeface="Calibri" pitchFamily="34" charset="0"/>
                <a:ea typeface="Calibri" pitchFamily="34" charset="-122"/>
                <a:cs typeface="Calibri" pitchFamily="34" charset="-120"/>
              </a:rPr>
              <a:t>prêt à l'exécution</a:t>
            </a:r>
            <a:endParaRPr lang="en-US" sz="1200" dirty="0"/>
          </a:p>
        </p:txBody>
      </p:sp>
      <p:sp>
        <p:nvSpPr>
          <p:cNvPr id="21" name="Text 16"/>
          <p:cNvSpPr/>
          <p:nvPr/>
        </p:nvSpPr>
        <p:spPr>
          <a:xfrm>
            <a:off x="777240" y="5623560"/>
            <a:ext cx="10607040" cy="457200"/>
          </a:xfrm>
          <a:prstGeom prst="rect">
            <a:avLst/>
          </a:prstGeom>
          <a:noFill/>
          <a:ln/>
        </p:spPr>
        <p:txBody>
          <a:bodyPr wrap="square" rtlCol="0" anchor="t"/>
          <a:lstStyle/>
          <a:p>
            <a:pPr algn="ctr" indent="0" marL="0">
              <a:buNone/>
            </a:pPr>
            <a:r>
              <a:rPr lang="en-US" sz="1350" i="1" dirty="0">
                <a:solidFill>
                  <a:srgbClr val="5A6B7D"/>
                </a:solidFill>
                <a:latin typeface="Calibri" pitchFamily="34" charset="0"/>
                <a:ea typeface="Calibri" pitchFamily="34" charset="-122"/>
                <a:cs typeface="Calibri" pitchFamily="34" charset="-120"/>
              </a:rPr>
              <a:t>Git assure une correspondance exacte entre le code validé et le code déployé.</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Un pipeline qui s'exécute sans intervention</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777240" y="1965960"/>
            <a:ext cx="1005840" cy="1005840"/>
          </a:xfrm>
          <a:prstGeom prst="ellipse">
            <a:avLst/>
          </a:prstGeom>
          <a:solidFill>
            <a:srgbClr val="1F3A5F"/>
          </a:solidFill>
          <a:ln/>
        </p:spPr>
      </p:sp>
      <p:pic>
        <p:nvPicPr>
          <p:cNvPr id="6" name="Image 0" descr="icons/clock.png">    </p:cNvPr>
          <p:cNvPicPr>
            <a:picLocks noChangeAspect="1"/>
          </p:cNvPicPr>
          <p:nvPr/>
        </p:nvPicPr>
        <p:blipFill>
          <a:blip r:embed="rId1"/>
          <a:stretch>
            <a:fillRect/>
          </a:stretch>
        </p:blipFill>
        <p:spPr>
          <a:xfrm>
            <a:off x="1028700" y="2217420"/>
            <a:ext cx="502920" cy="502920"/>
          </a:xfrm>
          <a:prstGeom prst="rect">
            <a:avLst/>
          </a:prstGeom>
        </p:spPr>
      </p:pic>
      <p:sp>
        <p:nvSpPr>
          <p:cNvPr id="7" name="Text 4"/>
          <p:cNvSpPr/>
          <p:nvPr/>
        </p:nvSpPr>
        <p:spPr>
          <a:xfrm>
            <a:off x="502920" y="3081528"/>
            <a:ext cx="1554480" cy="548640"/>
          </a:xfrm>
          <a:prstGeom prst="rect">
            <a:avLst/>
          </a:prstGeom>
          <a:noFill/>
          <a:ln/>
        </p:spPr>
        <p:txBody>
          <a:bodyPr wrap="square" rtlCol="0" anchor="t"/>
          <a:lstStyle/>
          <a:p>
            <a:pPr algn="ctr" indent="0" marL="0">
              <a:buNone/>
            </a:pPr>
            <a:r>
              <a:rPr lang="en-US" sz="1250" b="1" dirty="0">
                <a:solidFill>
                  <a:srgbClr val="1F3A5F"/>
                </a:solidFill>
                <a:latin typeface="Calibri" pitchFamily="34" charset="0"/>
                <a:ea typeface="Calibri" pitchFamily="34" charset="-122"/>
                <a:cs typeface="Calibri" pitchFamily="34" charset="-120"/>
              </a:rPr>
              <a:t>02h00</a:t>
            </a:r>
            <a:endParaRPr lang="en-US" sz="1250" dirty="0"/>
          </a:p>
          <a:p>
            <a:pPr algn="ctr" indent="0" marL="0">
              <a:buNone/>
            </a:pPr>
            <a:r>
              <a:rPr lang="en-US" sz="1250" b="1" dirty="0">
                <a:solidFill>
                  <a:srgbClr val="1F3A5F"/>
                </a:solidFill>
                <a:latin typeface="Calibri" pitchFamily="34" charset="0"/>
                <a:ea typeface="Calibri" pitchFamily="34" charset="-122"/>
                <a:cs typeface="Calibri" pitchFamily="34" charset="-120"/>
              </a:rPr>
              <a:t>chaque jour</a:t>
            </a:r>
            <a:endParaRPr lang="en-US" sz="1250" dirty="0"/>
          </a:p>
        </p:txBody>
      </p:sp>
      <p:sp>
        <p:nvSpPr>
          <p:cNvPr id="8" name="Shape 5"/>
          <p:cNvSpPr/>
          <p:nvPr/>
        </p:nvSpPr>
        <p:spPr>
          <a:xfrm>
            <a:off x="1874520" y="2468880"/>
            <a:ext cx="685800" cy="0"/>
          </a:xfrm>
          <a:prstGeom prst="line">
            <a:avLst/>
          </a:prstGeom>
          <a:noFill/>
          <a:ln w="28575">
            <a:solidFill>
              <a:srgbClr val="1F3A5F"/>
            </a:solidFill>
            <a:prstDash val="solid"/>
            <a:tailEnd type="triangle"/>
          </a:ln>
        </p:spPr>
      </p:sp>
      <p:sp>
        <p:nvSpPr>
          <p:cNvPr id="9" name="Shape 6"/>
          <p:cNvSpPr/>
          <p:nvPr/>
        </p:nvSpPr>
        <p:spPr>
          <a:xfrm>
            <a:off x="2651760" y="1965960"/>
            <a:ext cx="1005840" cy="1005840"/>
          </a:xfrm>
          <a:prstGeom prst="ellipse">
            <a:avLst/>
          </a:prstGeom>
          <a:solidFill>
            <a:srgbClr val="1F3A5F"/>
          </a:solidFill>
          <a:ln/>
        </p:spPr>
      </p:sp>
      <p:pic>
        <p:nvPicPr>
          <p:cNvPr id="10" name="Image 1" descr="icons/cogs.png">    </p:cNvPr>
          <p:cNvPicPr>
            <a:picLocks noChangeAspect="1"/>
          </p:cNvPicPr>
          <p:nvPr/>
        </p:nvPicPr>
        <p:blipFill>
          <a:blip r:embed="rId2"/>
          <a:stretch>
            <a:fillRect/>
          </a:stretch>
        </p:blipFill>
        <p:spPr>
          <a:xfrm>
            <a:off x="2903220" y="2217420"/>
            <a:ext cx="502920" cy="502920"/>
          </a:xfrm>
          <a:prstGeom prst="rect">
            <a:avLst/>
          </a:prstGeom>
        </p:spPr>
      </p:pic>
      <p:sp>
        <p:nvSpPr>
          <p:cNvPr id="11" name="Text 7"/>
          <p:cNvSpPr/>
          <p:nvPr/>
        </p:nvSpPr>
        <p:spPr>
          <a:xfrm>
            <a:off x="2331720" y="3081528"/>
            <a:ext cx="1645920" cy="548640"/>
          </a:xfrm>
          <a:prstGeom prst="rect">
            <a:avLst/>
          </a:prstGeom>
          <a:noFill/>
          <a:ln/>
        </p:spPr>
        <p:txBody>
          <a:bodyPr wrap="square" rtlCol="0" anchor="t"/>
          <a:lstStyle/>
          <a:p>
            <a:pPr algn="ctr" indent="0" marL="0">
              <a:buNone/>
            </a:pPr>
            <a:r>
              <a:rPr lang="en-US" sz="1250" b="1" dirty="0">
                <a:solidFill>
                  <a:srgbClr val="1F3A5F"/>
                </a:solidFill>
                <a:latin typeface="Calibri" pitchFamily="34" charset="0"/>
                <a:ea typeface="Calibri" pitchFamily="34" charset="-122"/>
                <a:cs typeface="Calibri" pitchFamily="34" charset="-120"/>
              </a:rPr>
              <a:t>crontab</a:t>
            </a:r>
            <a:endParaRPr lang="en-US" sz="1250" dirty="0"/>
          </a:p>
          <a:p>
            <a:pPr algn="ctr" indent="0" marL="0">
              <a:buNone/>
            </a:pPr>
            <a:r>
              <a:rPr lang="en-US" sz="1250" b="1" dirty="0">
                <a:solidFill>
                  <a:srgbClr val="1F3A5F"/>
                </a:solidFill>
                <a:latin typeface="Calibri" pitchFamily="34" charset="0"/>
                <a:ea typeface="Calibri" pitchFamily="34" charset="-122"/>
                <a:cs typeface="Calibri" pitchFamily="34" charset="-120"/>
              </a:rPr>
              <a:t>déclenche le pipeline</a:t>
            </a:r>
            <a:endParaRPr lang="en-US" sz="1250" dirty="0"/>
          </a:p>
        </p:txBody>
      </p:sp>
      <p:sp>
        <p:nvSpPr>
          <p:cNvPr id="12" name="Shape 8"/>
          <p:cNvSpPr/>
          <p:nvPr/>
        </p:nvSpPr>
        <p:spPr>
          <a:xfrm>
            <a:off x="3749040" y="2468880"/>
            <a:ext cx="685800" cy="0"/>
          </a:xfrm>
          <a:prstGeom prst="line">
            <a:avLst/>
          </a:prstGeom>
          <a:noFill/>
          <a:ln w="28575">
            <a:solidFill>
              <a:srgbClr val="1F3A5F"/>
            </a:solidFill>
            <a:prstDash val="solid"/>
            <a:tailEnd type="triangle"/>
          </a:ln>
        </p:spPr>
      </p:sp>
      <p:sp>
        <p:nvSpPr>
          <p:cNvPr id="13" name="Shape 9"/>
          <p:cNvSpPr/>
          <p:nvPr/>
        </p:nvSpPr>
        <p:spPr>
          <a:xfrm>
            <a:off x="4526280" y="1965960"/>
            <a:ext cx="1005840" cy="1005840"/>
          </a:xfrm>
          <a:prstGeom prst="ellipse">
            <a:avLst/>
          </a:prstGeom>
          <a:solidFill>
            <a:srgbClr val="1F3A5F"/>
          </a:solidFill>
          <a:ln/>
        </p:spPr>
      </p:sp>
      <p:pic>
        <p:nvPicPr>
          <p:cNvPr id="14" name="Image 2" descr="icons/database.png">    </p:cNvPr>
          <p:cNvPicPr>
            <a:picLocks noChangeAspect="1"/>
          </p:cNvPicPr>
          <p:nvPr/>
        </p:nvPicPr>
        <p:blipFill>
          <a:blip r:embed="rId3"/>
          <a:stretch>
            <a:fillRect/>
          </a:stretch>
        </p:blipFill>
        <p:spPr>
          <a:xfrm>
            <a:off x="4777740" y="2217420"/>
            <a:ext cx="502920" cy="502920"/>
          </a:xfrm>
          <a:prstGeom prst="rect">
            <a:avLst/>
          </a:prstGeom>
        </p:spPr>
      </p:pic>
      <p:sp>
        <p:nvSpPr>
          <p:cNvPr id="15" name="Text 10"/>
          <p:cNvSpPr/>
          <p:nvPr/>
        </p:nvSpPr>
        <p:spPr>
          <a:xfrm>
            <a:off x="4251960" y="3081528"/>
            <a:ext cx="1554480" cy="548640"/>
          </a:xfrm>
          <a:prstGeom prst="rect">
            <a:avLst/>
          </a:prstGeom>
          <a:noFill/>
          <a:ln/>
        </p:spPr>
        <p:txBody>
          <a:bodyPr wrap="square" rtlCol="0" anchor="t"/>
          <a:lstStyle/>
          <a:p>
            <a:pPr algn="ctr" indent="0" marL="0">
              <a:buNone/>
            </a:pPr>
            <a:r>
              <a:rPr lang="en-US" sz="1250" b="1" dirty="0">
                <a:solidFill>
                  <a:srgbClr val="1F3A5F"/>
                </a:solidFill>
                <a:latin typeface="Calibri" pitchFamily="34" charset="0"/>
                <a:ea typeface="Calibri" pitchFamily="34" charset="-122"/>
                <a:cs typeface="Calibri" pitchFamily="34" charset="-120"/>
              </a:rPr>
              <a:t>SQLite</a:t>
            </a:r>
            <a:endParaRPr lang="en-US" sz="1250" dirty="0"/>
          </a:p>
          <a:p>
            <a:pPr algn="ctr" indent="0" marL="0">
              <a:buNone/>
            </a:pPr>
            <a:r>
              <a:rPr lang="en-US" sz="1250" b="1" dirty="0">
                <a:solidFill>
                  <a:srgbClr val="1F3A5F"/>
                </a:solidFill>
                <a:latin typeface="Calibri" pitchFamily="34" charset="0"/>
                <a:ea typeface="Calibri" pitchFamily="34" charset="-122"/>
                <a:cs typeface="Calibri" pitchFamily="34" charset="-120"/>
              </a:rPr>
              <a:t>mise à jour</a:t>
            </a:r>
            <a:endParaRPr lang="en-US" sz="1250" dirty="0"/>
          </a:p>
        </p:txBody>
      </p:sp>
      <p:sp>
        <p:nvSpPr>
          <p:cNvPr id="16" name="Shape 11"/>
          <p:cNvSpPr/>
          <p:nvPr/>
        </p:nvSpPr>
        <p:spPr>
          <a:xfrm>
            <a:off x="5623560" y="2468880"/>
            <a:ext cx="685800" cy="0"/>
          </a:xfrm>
          <a:prstGeom prst="line">
            <a:avLst/>
          </a:prstGeom>
          <a:noFill/>
          <a:ln w="28575">
            <a:solidFill>
              <a:srgbClr val="1F3A5F"/>
            </a:solidFill>
            <a:prstDash val="solid"/>
            <a:tailEnd type="triangle"/>
          </a:ln>
        </p:spPr>
      </p:sp>
      <p:sp>
        <p:nvSpPr>
          <p:cNvPr id="17" name="Shape 12"/>
          <p:cNvSpPr/>
          <p:nvPr/>
        </p:nvSpPr>
        <p:spPr>
          <a:xfrm>
            <a:off x="6400800" y="1965960"/>
            <a:ext cx="1005840" cy="1005840"/>
          </a:xfrm>
          <a:prstGeom prst="ellipse">
            <a:avLst/>
          </a:prstGeom>
          <a:solidFill>
            <a:srgbClr val="1F3A5F"/>
          </a:solidFill>
          <a:ln/>
        </p:spPr>
      </p:sp>
      <p:pic>
        <p:nvPicPr>
          <p:cNvPr id="18" name="Image 3" descr="icons/fileCircleCheck.png">    </p:cNvPr>
          <p:cNvPicPr>
            <a:picLocks noChangeAspect="1"/>
          </p:cNvPicPr>
          <p:nvPr/>
        </p:nvPicPr>
        <p:blipFill>
          <a:blip r:embed="rId4"/>
          <a:stretch>
            <a:fillRect/>
          </a:stretch>
        </p:blipFill>
        <p:spPr>
          <a:xfrm>
            <a:off x="6652260" y="2217420"/>
            <a:ext cx="502920" cy="502920"/>
          </a:xfrm>
          <a:prstGeom prst="rect">
            <a:avLst/>
          </a:prstGeom>
        </p:spPr>
      </p:pic>
      <p:sp>
        <p:nvSpPr>
          <p:cNvPr id="19" name="Text 13"/>
          <p:cNvSpPr/>
          <p:nvPr/>
        </p:nvSpPr>
        <p:spPr>
          <a:xfrm>
            <a:off x="5989320" y="3081528"/>
            <a:ext cx="1737360" cy="548640"/>
          </a:xfrm>
          <a:prstGeom prst="rect">
            <a:avLst/>
          </a:prstGeom>
          <a:noFill/>
          <a:ln/>
        </p:spPr>
        <p:txBody>
          <a:bodyPr wrap="square" rtlCol="0" anchor="t"/>
          <a:lstStyle/>
          <a:p>
            <a:pPr algn="ctr" indent="0" marL="0">
              <a:buNone/>
            </a:pPr>
            <a:r>
              <a:rPr lang="en-US" sz="1250" b="1" dirty="0">
                <a:solidFill>
                  <a:srgbClr val="1F3A5F"/>
                </a:solidFill>
                <a:latin typeface="Calibri" pitchFamily="34" charset="0"/>
                <a:ea typeface="Calibri" pitchFamily="34" charset="-122"/>
                <a:cs typeface="Calibri" pitchFamily="34" charset="-120"/>
              </a:rPr>
              <a:t>pipeline.log</a:t>
            </a:r>
            <a:endParaRPr lang="en-US" sz="1250" dirty="0"/>
          </a:p>
          <a:p>
            <a:pPr algn="ctr" indent="0" marL="0">
              <a:buNone/>
            </a:pPr>
            <a:r>
              <a:rPr lang="en-US" sz="1250" b="1" dirty="0">
                <a:solidFill>
                  <a:srgbClr val="1F3A5F"/>
                </a:solidFill>
                <a:latin typeface="Calibri" pitchFamily="34" charset="0"/>
                <a:ea typeface="Calibri" pitchFamily="34" charset="-122"/>
                <a:cs typeface="Calibri" pitchFamily="34" charset="-120"/>
              </a:rPr>
              <a:t>historique conservé</a:t>
            </a:r>
            <a:endParaRPr lang="en-US" sz="1250" dirty="0"/>
          </a:p>
        </p:txBody>
      </p:sp>
      <p:sp>
        <p:nvSpPr>
          <p:cNvPr id="20" name="Shape 14"/>
          <p:cNvSpPr/>
          <p:nvPr/>
        </p:nvSpPr>
        <p:spPr>
          <a:xfrm>
            <a:off x="7726680" y="1325880"/>
            <a:ext cx="4160520" cy="1622089"/>
          </a:xfrm>
          <a:prstGeom prst="roundRect">
            <a:avLst>
              <a:gd name="adj" fmla="val 2819"/>
            </a:avLst>
          </a:prstGeom>
          <a:solidFill>
            <a:srgbClr val="F5F8FB"/>
          </a:solidFill>
          <a:ln/>
          <a:effectLst>
            <a:outerShdw sx="100000" sy="100000" kx="0" ky="0" algn="bl" rotWithShape="0" blurRad="114300" dist="25400" dir="5400000">
              <a:srgbClr val="1F3A5F">
                <a:alpha val="14000"/>
              </a:srgbClr>
            </a:outerShdw>
          </a:effectLst>
        </p:spPr>
      </p:sp>
      <p:pic>
        <p:nvPicPr>
          <p:cNvPr id="21" name="Image 4" descr="terminal_crontab.png">    </p:cNvPr>
          <p:cNvPicPr>
            <a:picLocks noChangeAspect="1"/>
          </p:cNvPicPr>
          <p:nvPr/>
        </p:nvPicPr>
        <p:blipFill>
          <a:blip r:embed="rId5"/>
          <a:stretch>
            <a:fillRect/>
          </a:stretch>
        </p:blipFill>
        <p:spPr>
          <a:xfrm>
            <a:off x="7818120" y="1417320"/>
            <a:ext cx="3977640" cy="1439209"/>
          </a:xfrm>
          <a:prstGeom prst="rect">
            <a:avLst/>
          </a:prstGeom>
        </p:spPr>
      </p:pic>
      <p:sp>
        <p:nvSpPr>
          <p:cNvPr id="22" name="Text 15"/>
          <p:cNvSpPr/>
          <p:nvPr/>
        </p:nvSpPr>
        <p:spPr>
          <a:xfrm>
            <a:off x="7818120" y="2966257"/>
            <a:ext cx="3977640" cy="365760"/>
          </a:xfrm>
          <a:prstGeom prst="rect">
            <a:avLst/>
          </a:prstGeom>
          <a:noFill/>
          <a:ln/>
        </p:spPr>
        <p:txBody>
          <a:bodyPr wrap="square" rtlCol="0" anchor="t"/>
          <a:lstStyle/>
          <a:p>
            <a:pPr algn="ctr" indent="0" marL="0">
              <a:buNone/>
            </a:pPr>
            <a:r>
              <a:rPr lang="en-US" sz="1050" i="1" dirty="0">
                <a:solidFill>
                  <a:srgbClr val="5A6B7D"/>
                </a:solidFill>
                <a:latin typeface="Calibri" pitchFamily="34" charset="0"/>
                <a:ea typeface="Calibri" pitchFamily="34" charset="-122"/>
                <a:cs typeface="Calibri" pitchFamily="34" charset="-120"/>
              </a:rPr>
              <a:t>Extrait : configuration crontab sur l'instance EC2</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De la donnée brute à la décision</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777240" y="1691640"/>
            <a:ext cx="2148840" cy="1691640"/>
          </a:xfrm>
          <a:prstGeom prst="roundRect">
            <a:avLst>
              <a:gd name="adj" fmla="val 5405"/>
            </a:avLst>
          </a:prstGeom>
          <a:solidFill>
            <a:srgbClr val="F5F8FB"/>
          </a:solidFill>
          <a:ln/>
          <a:effectLst>
            <a:outerShdw sx="100000" sy="100000" kx="0" ky="0" algn="bl" rotWithShape="0" blurRad="114300" dist="25400" dir="5400000">
              <a:srgbClr val="1F3A5F">
                <a:alpha val="14000"/>
              </a:srgbClr>
            </a:outerShdw>
          </a:effectLst>
        </p:spPr>
      </p:sp>
      <p:sp>
        <p:nvSpPr>
          <p:cNvPr id="6" name="Shape 4"/>
          <p:cNvSpPr/>
          <p:nvPr/>
        </p:nvSpPr>
        <p:spPr>
          <a:xfrm>
            <a:off x="1463040" y="1947672"/>
            <a:ext cx="777240" cy="777240"/>
          </a:xfrm>
          <a:prstGeom prst="ellipse">
            <a:avLst/>
          </a:prstGeom>
          <a:solidFill>
            <a:srgbClr val="DCE7F2"/>
          </a:solidFill>
          <a:ln/>
        </p:spPr>
      </p:sp>
      <p:pic>
        <p:nvPicPr>
          <p:cNvPr id="7" name="Image 0" descr="icons/boxes.png">    </p:cNvPr>
          <p:cNvPicPr>
            <a:picLocks noChangeAspect="1"/>
          </p:cNvPicPr>
          <p:nvPr/>
        </p:nvPicPr>
        <p:blipFill>
          <a:blip r:embed="rId1"/>
          <a:stretch>
            <a:fillRect/>
          </a:stretch>
        </p:blipFill>
        <p:spPr>
          <a:xfrm>
            <a:off x="1634033" y="2118665"/>
            <a:ext cx="435254" cy="435254"/>
          </a:xfrm>
          <a:prstGeom prst="rect">
            <a:avLst/>
          </a:prstGeom>
        </p:spPr>
      </p:pic>
      <p:sp>
        <p:nvSpPr>
          <p:cNvPr id="8" name="Text 5"/>
          <p:cNvSpPr/>
          <p:nvPr/>
        </p:nvSpPr>
        <p:spPr>
          <a:xfrm>
            <a:off x="777240" y="2862072"/>
            <a:ext cx="2148840" cy="45720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Sources</a:t>
            </a:r>
            <a:endParaRPr lang="en-US" sz="1300" dirty="0"/>
          </a:p>
          <a:p>
            <a:pPr algn="ctr" indent="0" marL="0">
              <a:buNone/>
            </a:pPr>
            <a:r>
              <a:rPr lang="en-US" sz="1300" b="1" dirty="0">
                <a:solidFill>
                  <a:srgbClr val="1F3A5F"/>
                </a:solidFill>
                <a:latin typeface="Calibri" pitchFamily="34" charset="0"/>
                <a:ea typeface="Calibri" pitchFamily="34" charset="-122"/>
                <a:cs typeface="Calibri" pitchFamily="34" charset="-120"/>
              </a:rPr>
              <a:t>(CSV / XML)</a:t>
            </a:r>
            <a:endParaRPr lang="en-US" sz="1300" dirty="0"/>
          </a:p>
        </p:txBody>
      </p:sp>
      <p:sp>
        <p:nvSpPr>
          <p:cNvPr id="9" name="Shape 6"/>
          <p:cNvSpPr/>
          <p:nvPr/>
        </p:nvSpPr>
        <p:spPr>
          <a:xfrm>
            <a:off x="2980944" y="2537460"/>
            <a:ext cx="347472" cy="0"/>
          </a:xfrm>
          <a:prstGeom prst="line">
            <a:avLst/>
          </a:prstGeom>
          <a:noFill/>
          <a:ln w="28575">
            <a:solidFill>
              <a:srgbClr val="1F3A5F"/>
            </a:solidFill>
            <a:prstDash val="solid"/>
            <a:tailEnd type="triangle"/>
          </a:ln>
        </p:spPr>
      </p:sp>
      <p:sp>
        <p:nvSpPr>
          <p:cNvPr id="10" name="Shape 7"/>
          <p:cNvSpPr/>
          <p:nvPr/>
        </p:nvSpPr>
        <p:spPr>
          <a:xfrm>
            <a:off x="3383280" y="1691640"/>
            <a:ext cx="2148840" cy="1691640"/>
          </a:xfrm>
          <a:prstGeom prst="roundRect">
            <a:avLst>
              <a:gd name="adj" fmla="val 5405"/>
            </a:avLst>
          </a:prstGeom>
          <a:solidFill>
            <a:srgbClr val="EAF0F7"/>
          </a:solidFill>
          <a:ln/>
          <a:effectLst>
            <a:outerShdw sx="100000" sy="100000" kx="0" ky="0" algn="bl" rotWithShape="0" blurRad="114300" dist="25400" dir="5400000">
              <a:srgbClr val="1F3A5F">
                <a:alpha val="14000"/>
              </a:srgbClr>
            </a:outerShdw>
          </a:effectLst>
        </p:spPr>
      </p:sp>
      <p:sp>
        <p:nvSpPr>
          <p:cNvPr id="11" name="Shape 8"/>
          <p:cNvSpPr/>
          <p:nvPr/>
        </p:nvSpPr>
        <p:spPr>
          <a:xfrm>
            <a:off x="4069080" y="1947672"/>
            <a:ext cx="777240" cy="777240"/>
          </a:xfrm>
          <a:prstGeom prst="ellipse">
            <a:avLst/>
          </a:prstGeom>
          <a:solidFill>
            <a:srgbClr val="1F3A5F"/>
          </a:solidFill>
          <a:ln/>
        </p:spPr>
      </p:sp>
      <p:pic>
        <p:nvPicPr>
          <p:cNvPr id="12" name="Image 1" descr="icons/cogs.png">    </p:cNvPr>
          <p:cNvPicPr>
            <a:picLocks noChangeAspect="1"/>
          </p:cNvPicPr>
          <p:nvPr/>
        </p:nvPicPr>
        <p:blipFill>
          <a:blip r:embed="rId2"/>
          <a:stretch>
            <a:fillRect/>
          </a:stretch>
        </p:blipFill>
        <p:spPr>
          <a:xfrm>
            <a:off x="4240073" y="2118665"/>
            <a:ext cx="435254" cy="435254"/>
          </a:xfrm>
          <a:prstGeom prst="rect">
            <a:avLst/>
          </a:prstGeom>
        </p:spPr>
      </p:pic>
      <p:sp>
        <p:nvSpPr>
          <p:cNvPr id="13" name="Text 9"/>
          <p:cNvSpPr/>
          <p:nvPr/>
        </p:nvSpPr>
        <p:spPr>
          <a:xfrm>
            <a:off x="3383280" y="2862072"/>
            <a:ext cx="2148840" cy="45720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Pipeline ETL</a:t>
            </a:r>
            <a:endParaRPr lang="en-US" sz="1300" dirty="0"/>
          </a:p>
          <a:p>
            <a:pPr algn="ctr" indent="0" marL="0">
              <a:buNone/>
            </a:pPr>
            <a:r>
              <a:rPr lang="en-US" sz="1300" b="1" dirty="0">
                <a:solidFill>
                  <a:srgbClr val="1F3A5F"/>
                </a:solidFill>
                <a:latin typeface="Calibri" pitchFamily="34" charset="0"/>
                <a:ea typeface="Calibri" pitchFamily="34" charset="-122"/>
                <a:cs typeface="Calibri" pitchFamily="34" charset="-120"/>
              </a:rPr>
              <a:t>(Python)</a:t>
            </a:r>
            <a:endParaRPr lang="en-US" sz="1300" dirty="0"/>
          </a:p>
        </p:txBody>
      </p:sp>
      <p:sp>
        <p:nvSpPr>
          <p:cNvPr id="14" name="Shape 10"/>
          <p:cNvSpPr/>
          <p:nvPr/>
        </p:nvSpPr>
        <p:spPr>
          <a:xfrm>
            <a:off x="5586984" y="2537460"/>
            <a:ext cx="347472" cy="0"/>
          </a:xfrm>
          <a:prstGeom prst="line">
            <a:avLst/>
          </a:prstGeom>
          <a:noFill/>
          <a:ln w="28575">
            <a:solidFill>
              <a:srgbClr val="1F3A5F"/>
            </a:solidFill>
            <a:prstDash val="solid"/>
            <a:tailEnd type="triangle"/>
          </a:ln>
        </p:spPr>
      </p:sp>
      <p:sp>
        <p:nvSpPr>
          <p:cNvPr id="15" name="Shape 11"/>
          <p:cNvSpPr/>
          <p:nvPr/>
        </p:nvSpPr>
        <p:spPr>
          <a:xfrm>
            <a:off x="5989320" y="1691640"/>
            <a:ext cx="2148840" cy="1691640"/>
          </a:xfrm>
          <a:prstGeom prst="roundRect">
            <a:avLst>
              <a:gd name="adj" fmla="val 5405"/>
            </a:avLst>
          </a:prstGeom>
          <a:solidFill>
            <a:srgbClr val="F5F8FB"/>
          </a:solidFill>
          <a:ln/>
          <a:effectLst>
            <a:outerShdw sx="100000" sy="100000" kx="0" ky="0" algn="bl" rotWithShape="0" blurRad="114300" dist="25400" dir="5400000">
              <a:srgbClr val="1F3A5F">
                <a:alpha val="14000"/>
              </a:srgbClr>
            </a:outerShdw>
          </a:effectLst>
        </p:spPr>
      </p:sp>
      <p:sp>
        <p:nvSpPr>
          <p:cNvPr id="16" name="Shape 12"/>
          <p:cNvSpPr/>
          <p:nvPr/>
        </p:nvSpPr>
        <p:spPr>
          <a:xfrm>
            <a:off x="6675120" y="1947672"/>
            <a:ext cx="777240" cy="777240"/>
          </a:xfrm>
          <a:prstGeom prst="ellipse">
            <a:avLst/>
          </a:prstGeom>
          <a:solidFill>
            <a:srgbClr val="DCE7F2"/>
          </a:solidFill>
          <a:ln/>
        </p:spPr>
      </p:sp>
      <p:pic>
        <p:nvPicPr>
          <p:cNvPr id="17" name="Image 2" descr="icons/database.png">    </p:cNvPr>
          <p:cNvPicPr>
            <a:picLocks noChangeAspect="1"/>
          </p:cNvPicPr>
          <p:nvPr/>
        </p:nvPicPr>
        <p:blipFill>
          <a:blip r:embed="rId3"/>
          <a:stretch>
            <a:fillRect/>
          </a:stretch>
        </p:blipFill>
        <p:spPr>
          <a:xfrm>
            <a:off x="6846113" y="2118665"/>
            <a:ext cx="435254" cy="435254"/>
          </a:xfrm>
          <a:prstGeom prst="rect">
            <a:avLst/>
          </a:prstGeom>
        </p:spPr>
      </p:pic>
      <p:sp>
        <p:nvSpPr>
          <p:cNvPr id="18" name="Text 13"/>
          <p:cNvSpPr/>
          <p:nvPr/>
        </p:nvSpPr>
        <p:spPr>
          <a:xfrm>
            <a:off x="5989320" y="2862072"/>
            <a:ext cx="2148840" cy="45720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Base SQLite</a:t>
            </a:r>
            <a:endParaRPr lang="en-US" sz="1300" dirty="0"/>
          </a:p>
        </p:txBody>
      </p:sp>
      <p:sp>
        <p:nvSpPr>
          <p:cNvPr id="19" name="Shape 14"/>
          <p:cNvSpPr/>
          <p:nvPr/>
        </p:nvSpPr>
        <p:spPr>
          <a:xfrm>
            <a:off x="8193024" y="2537460"/>
            <a:ext cx="347472" cy="0"/>
          </a:xfrm>
          <a:prstGeom prst="line">
            <a:avLst/>
          </a:prstGeom>
          <a:noFill/>
          <a:ln w="28575">
            <a:solidFill>
              <a:srgbClr val="1F3A5F"/>
            </a:solidFill>
            <a:prstDash val="solid"/>
            <a:tailEnd type="triangle"/>
          </a:ln>
        </p:spPr>
      </p:sp>
      <p:sp>
        <p:nvSpPr>
          <p:cNvPr id="20" name="Shape 15"/>
          <p:cNvSpPr/>
          <p:nvPr/>
        </p:nvSpPr>
        <p:spPr>
          <a:xfrm>
            <a:off x="8595360" y="1691640"/>
            <a:ext cx="2148840" cy="1691640"/>
          </a:xfrm>
          <a:prstGeom prst="roundRect">
            <a:avLst>
              <a:gd name="adj" fmla="val 5405"/>
            </a:avLst>
          </a:prstGeom>
          <a:solidFill>
            <a:srgbClr val="EAF0F7"/>
          </a:solidFill>
          <a:ln/>
          <a:effectLst>
            <a:outerShdw sx="100000" sy="100000" kx="0" ky="0" algn="bl" rotWithShape="0" blurRad="114300" dist="25400" dir="5400000">
              <a:srgbClr val="1F3A5F">
                <a:alpha val="14000"/>
              </a:srgbClr>
            </a:outerShdw>
          </a:effectLst>
        </p:spPr>
      </p:sp>
      <p:sp>
        <p:nvSpPr>
          <p:cNvPr id="21" name="Shape 16"/>
          <p:cNvSpPr/>
          <p:nvPr/>
        </p:nvSpPr>
        <p:spPr>
          <a:xfrm>
            <a:off x="9281160" y="1947672"/>
            <a:ext cx="777240" cy="777240"/>
          </a:xfrm>
          <a:prstGeom prst="ellipse">
            <a:avLst/>
          </a:prstGeom>
          <a:solidFill>
            <a:srgbClr val="1F3A5F"/>
          </a:solidFill>
          <a:ln/>
        </p:spPr>
      </p:sp>
      <p:pic>
        <p:nvPicPr>
          <p:cNvPr id="22" name="Image 3" descr="icons/chartBar.png">    </p:cNvPr>
          <p:cNvPicPr>
            <a:picLocks noChangeAspect="1"/>
          </p:cNvPicPr>
          <p:nvPr/>
        </p:nvPicPr>
        <p:blipFill>
          <a:blip r:embed="rId4"/>
          <a:stretch>
            <a:fillRect/>
          </a:stretch>
        </p:blipFill>
        <p:spPr>
          <a:xfrm>
            <a:off x="9452153" y="2118665"/>
            <a:ext cx="435254" cy="435254"/>
          </a:xfrm>
          <a:prstGeom prst="rect">
            <a:avLst/>
          </a:prstGeom>
        </p:spPr>
      </p:pic>
      <p:sp>
        <p:nvSpPr>
          <p:cNvPr id="23" name="Text 17"/>
          <p:cNvSpPr/>
          <p:nvPr/>
        </p:nvSpPr>
        <p:spPr>
          <a:xfrm>
            <a:off x="8595360" y="2862072"/>
            <a:ext cx="2148840" cy="457200"/>
          </a:xfrm>
          <a:prstGeom prst="rect">
            <a:avLst/>
          </a:prstGeom>
          <a:noFill/>
          <a:ln/>
        </p:spPr>
        <p:txBody>
          <a:bodyPr wrap="square" rtlCol="0" anchor="t"/>
          <a:lstStyle/>
          <a:p>
            <a:pPr algn="ctr" indent="0" marL="0">
              <a:buNone/>
            </a:pPr>
            <a:r>
              <a:rPr lang="en-US" sz="1300" b="1" dirty="0">
                <a:solidFill>
                  <a:srgbClr val="1F3A5F"/>
                </a:solidFill>
                <a:latin typeface="Calibri" pitchFamily="34" charset="0"/>
                <a:ea typeface="Calibri" pitchFamily="34" charset="-122"/>
                <a:cs typeface="Calibri" pitchFamily="34" charset="-120"/>
              </a:rPr>
              <a:t>Power BI</a:t>
            </a:r>
            <a:endParaRPr lang="en-US" sz="1300" dirty="0"/>
          </a:p>
        </p:txBody>
      </p:sp>
      <p:sp>
        <p:nvSpPr>
          <p:cNvPr id="24" name="Shape 18"/>
          <p:cNvSpPr/>
          <p:nvPr/>
        </p:nvSpPr>
        <p:spPr>
          <a:xfrm>
            <a:off x="2331720" y="3840480"/>
            <a:ext cx="4206240" cy="1234440"/>
          </a:xfrm>
          <a:prstGeom prst="roundRect">
            <a:avLst>
              <a:gd name="adj" fmla="val 7407"/>
            </a:avLst>
          </a:prstGeom>
          <a:solidFill>
            <a:srgbClr val="1F3A5F"/>
          </a:solidFill>
          <a:ln/>
          <a:effectLst>
            <a:outerShdw sx="100000" sy="100000" kx="0" ky="0" algn="bl" rotWithShape="0" blurRad="114300" dist="25400" dir="5400000">
              <a:srgbClr val="1F3A5F">
                <a:alpha val="14000"/>
              </a:srgbClr>
            </a:outerShdw>
          </a:effectLst>
        </p:spPr>
      </p:sp>
      <p:sp>
        <p:nvSpPr>
          <p:cNvPr id="25" name="Shape 19"/>
          <p:cNvSpPr/>
          <p:nvPr/>
        </p:nvSpPr>
        <p:spPr>
          <a:xfrm>
            <a:off x="2606040" y="4096512"/>
            <a:ext cx="731520" cy="731520"/>
          </a:xfrm>
          <a:prstGeom prst="ellipse">
            <a:avLst/>
          </a:prstGeom>
          <a:solidFill>
            <a:srgbClr val="3D6FA5"/>
          </a:solidFill>
          <a:ln/>
        </p:spPr>
      </p:sp>
      <p:pic>
        <p:nvPicPr>
          <p:cNvPr id="26" name="Image 4" descr="icons/aws.png">    </p:cNvPr>
          <p:cNvPicPr>
            <a:picLocks noChangeAspect="1"/>
          </p:cNvPicPr>
          <p:nvPr/>
        </p:nvPicPr>
        <p:blipFill>
          <a:blip r:embed="rId5"/>
          <a:stretch>
            <a:fillRect/>
          </a:stretch>
        </p:blipFill>
        <p:spPr>
          <a:xfrm>
            <a:off x="2770632" y="4261104"/>
            <a:ext cx="402336" cy="402336"/>
          </a:xfrm>
          <a:prstGeom prst="rect">
            <a:avLst/>
          </a:prstGeom>
        </p:spPr>
      </p:pic>
      <p:sp>
        <p:nvSpPr>
          <p:cNvPr id="27" name="Shape 20"/>
          <p:cNvSpPr/>
          <p:nvPr/>
        </p:nvSpPr>
        <p:spPr>
          <a:xfrm>
            <a:off x="5394960" y="4096512"/>
            <a:ext cx="731520" cy="731520"/>
          </a:xfrm>
          <a:prstGeom prst="ellipse">
            <a:avLst/>
          </a:prstGeom>
          <a:solidFill>
            <a:srgbClr val="3D6FA5"/>
          </a:solidFill>
          <a:ln/>
        </p:spPr>
      </p:sp>
      <p:pic>
        <p:nvPicPr>
          <p:cNvPr id="28" name="Image 5" descr="icons/clock.png">    </p:cNvPr>
          <p:cNvPicPr>
            <a:picLocks noChangeAspect="1"/>
          </p:cNvPicPr>
          <p:nvPr/>
        </p:nvPicPr>
        <p:blipFill>
          <a:blip r:embed="rId6"/>
          <a:stretch>
            <a:fillRect/>
          </a:stretch>
        </p:blipFill>
        <p:spPr>
          <a:xfrm>
            <a:off x="5559552" y="4261104"/>
            <a:ext cx="402336" cy="402336"/>
          </a:xfrm>
          <a:prstGeom prst="rect">
            <a:avLst/>
          </a:prstGeom>
        </p:spPr>
      </p:pic>
      <p:sp>
        <p:nvSpPr>
          <p:cNvPr id="29" name="Text 21"/>
          <p:cNvSpPr/>
          <p:nvPr/>
        </p:nvSpPr>
        <p:spPr>
          <a:xfrm>
            <a:off x="3429000" y="4041648"/>
            <a:ext cx="1783080" cy="274320"/>
          </a:xfrm>
          <a:prstGeom prst="rect">
            <a:avLst/>
          </a:prstGeom>
          <a:noFill/>
          <a:ln/>
        </p:spPr>
        <p:txBody>
          <a:bodyPr wrap="square" rtlCol="0" anchor="t"/>
          <a:lstStyle/>
          <a:p>
            <a:pPr algn="l" indent="0" marL="0">
              <a:buNone/>
            </a:pPr>
            <a:r>
              <a:rPr lang="en-US" sz="1150" b="1" dirty="0">
                <a:solidFill>
                  <a:srgbClr val="FFFFFF"/>
                </a:solidFill>
                <a:latin typeface="Calibri" pitchFamily="34" charset="0"/>
                <a:ea typeface="Calibri" pitchFamily="34" charset="-122"/>
                <a:cs typeface="Calibri" pitchFamily="34" charset="-120"/>
              </a:rPr>
              <a:t>Instance Amazon EC2</a:t>
            </a:r>
            <a:endParaRPr lang="en-US" sz="1150" dirty="0"/>
          </a:p>
        </p:txBody>
      </p:sp>
      <p:sp>
        <p:nvSpPr>
          <p:cNvPr id="30" name="Text 22"/>
          <p:cNvSpPr/>
          <p:nvPr/>
        </p:nvSpPr>
        <p:spPr>
          <a:xfrm>
            <a:off x="3429000" y="4315968"/>
            <a:ext cx="1920240" cy="685800"/>
          </a:xfrm>
          <a:prstGeom prst="rect">
            <a:avLst/>
          </a:prstGeom>
          <a:noFill/>
          <a:ln/>
        </p:spPr>
        <p:txBody>
          <a:bodyPr wrap="square" rtlCol="0" anchor="t"/>
          <a:lstStyle/>
          <a:p>
            <a:pPr algn="l" indent="0" marL="0">
              <a:buNone/>
            </a:pPr>
            <a:r>
              <a:rPr lang="en-US" sz="1050" dirty="0">
                <a:solidFill>
                  <a:srgbClr val="DCE7F2"/>
                </a:solidFill>
                <a:latin typeface="Calibri" pitchFamily="34" charset="0"/>
                <a:ea typeface="Calibri" pitchFamily="34" charset="-122"/>
                <a:cs typeface="Calibri" pitchFamily="34" charset="-120"/>
              </a:rPr>
              <a:t>Exécution automatisée quotidienne (cron)</a:t>
            </a:r>
            <a:endParaRPr lang="en-US" sz="1050" dirty="0"/>
          </a:p>
        </p:txBody>
      </p:sp>
      <p:sp>
        <p:nvSpPr>
          <p:cNvPr id="31" name="Shape 23"/>
          <p:cNvSpPr/>
          <p:nvPr/>
        </p:nvSpPr>
        <p:spPr>
          <a:xfrm>
            <a:off x="4457700" y="3438144"/>
            <a:ext cx="0" cy="347472"/>
          </a:xfrm>
          <a:prstGeom prst="line">
            <a:avLst/>
          </a:prstGeom>
          <a:noFill/>
          <a:ln w="28575">
            <a:solidFill>
              <a:srgbClr val="1F3A5F"/>
            </a:solidFill>
            <a:prstDash val="solid"/>
            <a:tailEnd type="triangle"/>
          </a:ln>
        </p:spPr>
      </p:sp>
      <p:sp>
        <p:nvSpPr>
          <p:cNvPr id="32" name="Shape 24"/>
          <p:cNvSpPr/>
          <p:nvPr/>
        </p:nvSpPr>
        <p:spPr>
          <a:xfrm>
            <a:off x="777240" y="5806440"/>
            <a:ext cx="10607040" cy="594360"/>
          </a:xfrm>
          <a:prstGeom prst="roundRect">
            <a:avLst>
              <a:gd name="adj" fmla="val 15385"/>
            </a:avLst>
          </a:prstGeom>
          <a:solidFill>
            <a:srgbClr val="1F3A5F"/>
          </a:solidFill>
          <a:ln/>
          <a:effectLst>
            <a:outerShdw sx="100000" sy="100000" kx="0" ky="0" algn="bl" rotWithShape="0" blurRad="114300" dist="25400" dir="5400000">
              <a:srgbClr val="1F3A5F">
                <a:alpha val="14000"/>
              </a:srgbClr>
            </a:outerShdw>
          </a:effectLst>
        </p:spPr>
      </p:sp>
      <p:sp>
        <p:nvSpPr>
          <p:cNvPr id="33" name="Text 25"/>
          <p:cNvSpPr/>
          <p:nvPr/>
        </p:nvSpPr>
        <p:spPr>
          <a:xfrm>
            <a:off x="777240" y="5943600"/>
            <a:ext cx="10607040" cy="365760"/>
          </a:xfrm>
          <a:prstGeom prst="rect">
            <a:avLst/>
          </a:prstGeom>
          <a:noFill/>
          <a:ln/>
        </p:spPr>
        <p:txBody>
          <a:bodyPr wrap="square" rtlCol="0" anchor="t"/>
          <a:lstStyle/>
          <a:p>
            <a:pPr algn="ctr" indent="0" marL="0">
              <a:buNone/>
            </a:pPr>
            <a:r>
              <a:rPr lang="en-US" sz="1450" b="1" dirty="0">
                <a:solidFill>
                  <a:srgbClr val="FFFFFF"/>
                </a:solidFill>
                <a:latin typeface="Calibri" pitchFamily="34" charset="0"/>
                <a:ea typeface="Calibri" pitchFamily="34" charset="-122"/>
                <a:cs typeface="Calibri" pitchFamily="34" charset="-120"/>
              </a:rPr>
              <a:t>Une chaîne de valeur complète, conçue, développée et automatisée de bout en bout.</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Et demain ?</a:t>
            </a:r>
            <a:endParaRPr lang="en-US" sz="3000" dirty="0"/>
          </a:p>
        </p:txBody>
      </p:sp>
      <p:sp>
        <p:nvSpPr>
          <p:cNvPr id="3" name="Text 1"/>
          <p:cNvSpPr/>
          <p:nvPr/>
        </p:nvSpPr>
        <p:spPr>
          <a:xfrm>
            <a:off x="640080" y="6528816"/>
            <a:ext cx="7315200" cy="274320"/>
          </a:xfrm>
          <a:prstGeom prst="rect">
            <a:avLst/>
          </a:prstGeom>
          <a:noFill/>
          <a:ln/>
        </p:spPr>
        <p:txBody>
          <a:bodyPr wrap="square" rtlCol="0" anchor="ctr"/>
          <a:lstStyle/>
          <a:p>
            <a:pPr indent="0" marL="0">
              <a:buNone/>
            </a:pPr>
            <a:r>
              <a:rPr lang="en-US" sz="1000" dirty="0">
                <a:solidFill>
                  <a:srgbClr val="5A6B7D"/>
                </a:solidFill>
                <a:latin typeface="Calibri" pitchFamily="34" charset="0"/>
                <a:ea typeface="Calibri" pitchFamily="34" charset="-122"/>
                <a:cs typeface="Calibri" pitchFamily="34" charset="-120"/>
              </a:rPr>
              <a:t>Lerouge Moulin — Soutenance Data Engineering</a:t>
            </a:r>
            <a:endParaRPr lang="en-US" sz="1000" dirty="0"/>
          </a:p>
        </p:txBody>
      </p:sp>
      <p:sp>
        <p:nvSpPr>
          <p:cNvPr id="4" name="Text 2"/>
          <p:cNvSpPr/>
          <p:nvPr/>
        </p:nvSpPr>
        <p:spPr>
          <a:xfrm>
            <a:off x="11247120" y="6528816"/>
            <a:ext cx="457200" cy="274320"/>
          </a:xfrm>
          <a:prstGeom prst="rect">
            <a:avLst/>
          </a:prstGeom>
          <a:noFill/>
          <a:ln/>
        </p:spPr>
        <p:txBody>
          <a:bodyPr wrap="square" rtlCol="0" anchor="ctr"/>
          <a:lstStyle/>
          <a:p>
            <a:pPr algn="r" indent="0" marL="0">
              <a:buNone/>
            </a:pPr>
            <a:r>
              <a:rPr lang="en-US" sz="1000" dirty="0">
                <a:solidFill>
                  <a:srgbClr val="5A6B7D"/>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836676" y="1920240"/>
            <a:ext cx="3291840" cy="2834640"/>
          </a:xfrm>
          <a:prstGeom prst="roundRect">
            <a:avLst>
              <a:gd name="adj" fmla="val 3226"/>
            </a:avLst>
          </a:prstGeom>
          <a:solidFill>
            <a:srgbClr val="F5F8FB"/>
          </a:solidFill>
          <a:ln/>
          <a:effectLst>
            <a:outerShdw sx="100000" sy="100000" kx="0" ky="0" algn="bl" rotWithShape="0" blurRad="114300" dist="25400" dir="5400000">
              <a:srgbClr val="1F3A5F">
                <a:alpha val="14000"/>
              </a:srgbClr>
            </a:outerShdw>
          </a:effectLst>
        </p:spPr>
      </p:sp>
      <p:sp>
        <p:nvSpPr>
          <p:cNvPr id="6" name="Shape 4"/>
          <p:cNvSpPr/>
          <p:nvPr/>
        </p:nvSpPr>
        <p:spPr>
          <a:xfrm>
            <a:off x="2025396" y="2286000"/>
            <a:ext cx="914400" cy="914400"/>
          </a:xfrm>
          <a:prstGeom prst="ellipse">
            <a:avLst/>
          </a:prstGeom>
          <a:solidFill>
            <a:srgbClr val="DCE7F2"/>
          </a:solidFill>
          <a:ln/>
        </p:spPr>
      </p:sp>
      <p:pic>
        <p:nvPicPr>
          <p:cNvPr id="7" name="Image 0" descr="icons/s3box.png">    </p:cNvPr>
          <p:cNvPicPr>
            <a:picLocks noChangeAspect="1"/>
          </p:cNvPicPr>
          <p:nvPr/>
        </p:nvPicPr>
        <p:blipFill>
          <a:blip r:embed="rId1"/>
          <a:stretch>
            <a:fillRect/>
          </a:stretch>
        </p:blipFill>
        <p:spPr>
          <a:xfrm>
            <a:off x="2253996" y="2514600"/>
            <a:ext cx="457200" cy="457200"/>
          </a:xfrm>
          <a:prstGeom prst="rect">
            <a:avLst/>
          </a:prstGeom>
        </p:spPr>
      </p:pic>
      <p:sp>
        <p:nvSpPr>
          <p:cNvPr id="8" name="Text 5"/>
          <p:cNvSpPr/>
          <p:nvPr/>
        </p:nvSpPr>
        <p:spPr>
          <a:xfrm>
            <a:off x="1019556" y="3429000"/>
            <a:ext cx="2926080" cy="365760"/>
          </a:xfrm>
          <a:prstGeom prst="rect">
            <a:avLst/>
          </a:prstGeom>
          <a:noFill/>
          <a:ln/>
        </p:spPr>
        <p:txBody>
          <a:bodyPr wrap="square" rtlCol="0" anchor="t"/>
          <a:lstStyle/>
          <a:p>
            <a:pPr algn="ctr" indent="0" marL="0">
              <a:buNone/>
            </a:pPr>
            <a:r>
              <a:rPr lang="en-US" sz="1550" b="1" dirty="0">
                <a:solidFill>
                  <a:srgbClr val="1F3A5F"/>
                </a:solidFill>
                <a:latin typeface="Calibri" pitchFamily="34" charset="0"/>
                <a:ea typeface="Calibri" pitchFamily="34" charset="-122"/>
                <a:cs typeface="Calibri" pitchFamily="34" charset="-120"/>
              </a:rPr>
              <a:t>Amazon S3</a:t>
            </a:r>
            <a:endParaRPr lang="en-US" sz="1550" dirty="0"/>
          </a:p>
        </p:txBody>
      </p:sp>
      <p:sp>
        <p:nvSpPr>
          <p:cNvPr id="9" name="Text 6"/>
          <p:cNvSpPr/>
          <p:nvPr/>
        </p:nvSpPr>
        <p:spPr>
          <a:xfrm>
            <a:off x="1110996" y="3886200"/>
            <a:ext cx="2743200" cy="777240"/>
          </a:xfrm>
          <a:prstGeom prst="rect">
            <a:avLst/>
          </a:prstGeom>
          <a:noFill/>
          <a:ln/>
        </p:spPr>
        <p:txBody>
          <a:bodyPr wrap="square" rtlCol="0" anchor="t"/>
          <a:lstStyle/>
          <a:p>
            <a:pPr algn="ctr" indent="0" marL="0">
              <a:buNone/>
            </a:pPr>
            <a:r>
              <a:rPr lang="en-US" sz="1200" dirty="0">
                <a:solidFill>
                  <a:srgbClr val="5A6B7D"/>
                </a:solidFill>
                <a:latin typeface="Calibri" pitchFamily="34" charset="0"/>
                <a:ea typeface="Calibri" pitchFamily="34" charset="-122"/>
                <a:cs typeface="Calibri" pitchFamily="34" charset="-120"/>
              </a:rPr>
              <a:t>Stockage centralisé des fichiers sources et des exports</a:t>
            </a:r>
            <a:endParaRPr lang="en-US" sz="1200" dirty="0"/>
          </a:p>
        </p:txBody>
      </p:sp>
      <p:sp>
        <p:nvSpPr>
          <p:cNvPr id="10" name="Shape 7"/>
          <p:cNvSpPr/>
          <p:nvPr/>
        </p:nvSpPr>
        <p:spPr>
          <a:xfrm>
            <a:off x="4448556" y="1920240"/>
            <a:ext cx="3291840" cy="2834640"/>
          </a:xfrm>
          <a:prstGeom prst="roundRect">
            <a:avLst>
              <a:gd name="adj" fmla="val 3226"/>
            </a:avLst>
          </a:prstGeom>
          <a:solidFill>
            <a:srgbClr val="F5F8FB"/>
          </a:solidFill>
          <a:ln/>
          <a:effectLst>
            <a:outerShdw sx="100000" sy="100000" kx="0" ky="0" algn="bl" rotWithShape="0" blurRad="114300" dist="25400" dir="5400000">
              <a:srgbClr val="1F3A5F">
                <a:alpha val="14000"/>
              </a:srgbClr>
            </a:outerShdw>
          </a:effectLst>
        </p:spPr>
      </p:sp>
      <p:sp>
        <p:nvSpPr>
          <p:cNvPr id="11" name="Shape 8"/>
          <p:cNvSpPr/>
          <p:nvPr/>
        </p:nvSpPr>
        <p:spPr>
          <a:xfrm>
            <a:off x="5637276" y="2286000"/>
            <a:ext cx="914400" cy="914400"/>
          </a:xfrm>
          <a:prstGeom prst="ellipse">
            <a:avLst/>
          </a:prstGeom>
          <a:solidFill>
            <a:srgbClr val="DCE7F2"/>
          </a:solidFill>
          <a:ln/>
        </p:spPr>
      </p:sp>
      <p:pic>
        <p:nvPicPr>
          <p:cNvPr id="12" name="Image 1" descr="icons/brain.png">    </p:cNvPr>
          <p:cNvPicPr>
            <a:picLocks noChangeAspect="1"/>
          </p:cNvPicPr>
          <p:nvPr/>
        </p:nvPicPr>
        <p:blipFill>
          <a:blip r:embed="rId2"/>
          <a:stretch>
            <a:fillRect/>
          </a:stretch>
        </p:blipFill>
        <p:spPr>
          <a:xfrm>
            <a:off x="5865876" y="2514600"/>
            <a:ext cx="457200" cy="457200"/>
          </a:xfrm>
          <a:prstGeom prst="rect">
            <a:avLst/>
          </a:prstGeom>
        </p:spPr>
      </p:pic>
      <p:sp>
        <p:nvSpPr>
          <p:cNvPr id="13" name="Text 9"/>
          <p:cNvSpPr/>
          <p:nvPr/>
        </p:nvSpPr>
        <p:spPr>
          <a:xfrm>
            <a:off x="4631436" y="3429000"/>
            <a:ext cx="2926080" cy="365760"/>
          </a:xfrm>
          <a:prstGeom prst="rect">
            <a:avLst/>
          </a:prstGeom>
          <a:noFill/>
          <a:ln/>
        </p:spPr>
        <p:txBody>
          <a:bodyPr wrap="square" rtlCol="0" anchor="t"/>
          <a:lstStyle/>
          <a:p>
            <a:pPr algn="ctr" indent="0" marL="0">
              <a:buNone/>
            </a:pPr>
            <a:r>
              <a:rPr lang="en-US" sz="1550" b="1" dirty="0">
                <a:solidFill>
                  <a:srgbClr val="1F3A5F"/>
                </a:solidFill>
                <a:latin typeface="Calibri" pitchFamily="34" charset="0"/>
                <a:ea typeface="Calibri" pitchFamily="34" charset="-122"/>
                <a:cs typeface="Calibri" pitchFamily="34" charset="-120"/>
              </a:rPr>
              <a:t>Machine Learning</a:t>
            </a:r>
            <a:endParaRPr lang="en-US" sz="1550" dirty="0"/>
          </a:p>
        </p:txBody>
      </p:sp>
      <p:sp>
        <p:nvSpPr>
          <p:cNvPr id="14" name="Text 10"/>
          <p:cNvSpPr/>
          <p:nvPr/>
        </p:nvSpPr>
        <p:spPr>
          <a:xfrm>
            <a:off x="4722876" y="3886200"/>
            <a:ext cx="2743200" cy="777240"/>
          </a:xfrm>
          <a:prstGeom prst="rect">
            <a:avLst/>
          </a:prstGeom>
          <a:noFill/>
          <a:ln/>
        </p:spPr>
        <p:txBody>
          <a:bodyPr wrap="square" rtlCol="0" anchor="t"/>
          <a:lstStyle/>
          <a:p>
            <a:pPr algn="ctr" indent="0" marL="0">
              <a:buNone/>
            </a:pPr>
            <a:r>
              <a:rPr lang="en-US" sz="1200" dirty="0">
                <a:solidFill>
                  <a:srgbClr val="5A6B7D"/>
                </a:solidFill>
                <a:latin typeface="Calibri" pitchFamily="34" charset="0"/>
                <a:ea typeface="Calibri" pitchFamily="34" charset="-122"/>
                <a:cs typeface="Calibri" pitchFamily="34" charset="-120"/>
              </a:rPr>
              <a:t>Prévision des ventes à partir de l'historique</a:t>
            </a:r>
            <a:endParaRPr lang="en-US" sz="1200" dirty="0"/>
          </a:p>
        </p:txBody>
      </p:sp>
      <p:sp>
        <p:nvSpPr>
          <p:cNvPr id="15" name="Shape 11"/>
          <p:cNvSpPr/>
          <p:nvPr/>
        </p:nvSpPr>
        <p:spPr>
          <a:xfrm>
            <a:off x="8060436" y="1920240"/>
            <a:ext cx="3291840" cy="2834640"/>
          </a:xfrm>
          <a:prstGeom prst="roundRect">
            <a:avLst>
              <a:gd name="adj" fmla="val 3226"/>
            </a:avLst>
          </a:prstGeom>
          <a:solidFill>
            <a:srgbClr val="F5F8FB"/>
          </a:solidFill>
          <a:ln/>
          <a:effectLst>
            <a:outerShdw sx="100000" sy="100000" kx="0" ky="0" algn="bl" rotWithShape="0" blurRad="114300" dist="25400" dir="5400000">
              <a:srgbClr val="1F3A5F">
                <a:alpha val="14000"/>
              </a:srgbClr>
            </a:outerShdw>
          </a:effectLst>
        </p:spPr>
      </p:sp>
      <p:sp>
        <p:nvSpPr>
          <p:cNvPr id="16" name="Shape 12"/>
          <p:cNvSpPr/>
          <p:nvPr/>
        </p:nvSpPr>
        <p:spPr>
          <a:xfrm>
            <a:off x="9249156" y="2286000"/>
            <a:ext cx="914400" cy="914400"/>
          </a:xfrm>
          <a:prstGeom prst="ellipse">
            <a:avLst/>
          </a:prstGeom>
          <a:solidFill>
            <a:srgbClr val="DCE7F2"/>
          </a:solidFill>
          <a:ln/>
        </p:spPr>
      </p:sp>
      <p:pic>
        <p:nvPicPr>
          <p:cNvPr id="17" name="Image 2" descr="icons/bolt2.png">    </p:cNvPr>
          <p:cNvPicPr>
            <a:picLocks noChangeAspect="1"/>
          </p:cNvPicPr>
          <p:nvPr/>
        </p:nvPicPr>
        <p:blipFill>
          <a:blip r:embed="rId3"/>
          <a:stretch>
            <a:fillRect/>
          </a:stretch>
        </p:blipFill>
        <p:spPr>
          <a:xfrm>
            <a:off x="9477756" y="2514600"/>
            <a:ext cx="457200" cy="457200"/>
          </a:xfrm>
          <a:prstGeom prst="rect">
            <a:avLst/>
          </a:prstGeom>
        </p:spPr>
      </p:pic>
      <p:sp>
        <p:nvSpPr>
          <p:cNvPr id="18" name="Text 13"/>
          <p:cNvSpPr/>
          <p:nvPr/>
        </p:nvSpPr>
        <p:spPr>
          <a:xfrm>
            <a:off x="8243316" y="3429000"/>
            <a:ext cx="2926080" cy="365760"/>
          </a:xfrm>
          <a:prstGeom prst="rect">
            <a:avLst/>
          </a:prstGeom>
          <a:noFill/>
          <a:ln/>
        </p:spPr>
        <p:txBody>
          <a:bodyPr wrap="square" rtlCol="0" anchor="t"/>
          <a:lstStyle/>
          <a:p>
            <a:pPr algn="ctr" indent="0" marL="0">
              <a:buNone/>
            </a:pPr>
            <a:r>
              <a:rPr lang="en-US" sz="1550" b="1" dirty="0">
                <a:solidFill>
                  <a:srgbClr val="1F3A5F"/>
                </a:solidFill>
                <a:latin typeface="Calibri" pitchFamily="34" charset="0"/>
                <a:ea typeface="Calibri" pitchFamily="34" charset="-122"/>
                <a:cs typeface="Calibri" pitchFamily="34" charset="-120"/>
              </a:rPr>
              <a:t>Temps réel</a:t>
            </a:r>
            <a:endParaRPr lang="en-US" sz="1550" dirty="0"/>
          </a:p>
        </p:txBody>
      </p:sp>
      <p:sp>
        <p:nvSpPr>
          <p:cNvPr id="19" name="Text 14"/>
          <p:cNvSpPr/>
          <p:nvPr/>
        </p:nvSpPr>
        <p:spPr>
          <a:xfrm>
            <a:off x="8334756" y="3886200"/>
            <a:ext cx="2743200" cy="777240"/>
          </a:xfrm>
          <a:prstGeom prst="rect">
            <a:avLst/>
          </a:prstGeom>
          <a:noFill/>
          <a:ln/>
        </p:spPr>
        <p:txBody>
          <a:bodyPr wrap="square" rtlCol="0" anchor="t"/>
          <a:lstStyle/>
          <a:p>
            <a:pPr algn="ctr" indent="0" marL="0">
              <a:buNone/>
            </a:pPr>
            <a:r>
              <a:rPr lang="en-US" sz="1200" dirty="0">
                <a:solidFill>
                  <a:srgbClr val="5A6B7D"/>
                </a:solidFill>
                <a:latin typeface="Calibri" pitchFamily="34" charset="0"/>
                <a:ea typeface="Calibri" pitchFamily="34" charset="-122"/>
                <a:cs typeface="Calibri" pitchFamily="34" charset="-120"/>
              </a:rPr>
              <a:t>Traitement en flux plutôt qu'en traitement quotidien</a:t>
            </a:r>
            <a:endParaRPr lang="en-US" sz="1200" dirty="0"/>
          </a:p>
        </p:txBody>
      </p:sp>
      <p:sp>
        <p:nvSpPr>
          <p:cNvPr id="20" name="Text 15"/>
          <p:cNvSpPr/>
          <p:nvPr/>
        </p:nvSpPr>
        <p:spPr>
          <a:xfrm>
            <a:off x="777240" y="5166360"/>
            <a:ext cx="10607040" cy="457200"/>
          </a:xfrm>
          <a:prstGeom prst="rect">
            <a:avLst/>
          </a:prstGeom>
          <a:noFill/>
          <a:ln/>
        </p:spPr>
        <p:txBody>
          <a:bodyPr wrap="square" rtlCol="0" anchor="t"/>
          <a:lstStyle/>
          <a:p>
            <a:pPr algn="ctr" indent="0" marL="0">
              <a:buNone/>
            </a:pPr>
            <a:r>
              <a:rPr lang="en-US" sz="1350" i="1" dirty="0">
                <a:solidFill>
                  <a:srgbClr val="5A6B7D"/>
                </a:solidFill>
                <a:latin typeface="Calibri" pitchFamily="34" charset="0"/>
                <a:ea typeface="Calibri" pitchFamily="34" charset="-122"/>
                <a:cs typeface="Calibri" pitchFamily="34" charset="-120"/>
              </a:rPr>
              <a:t>Des évolutions envisageables, non mises en œuvre dans cette version du projet.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320040" y="4526280"/>
            <a:ext cx="2834640" cy="2834640"/>
          </a:xfrm>
          <a:prstGeom prst="ellipse">
            <a:avLst/>
          </a:prstGeom>
          <a:ln w="15875">
            <a:solidFill>
              <a:srgbClr val="3D6FA5">
                <a:alpha val="55000"/>
              </a:srgbClr>
            </a:solidFill>
            <a:prstDash val="solid"/>
          </a:ln>
        </p:spPr>
      </p:sp>
      <p:sp>
        <p:nvSpPr>
          <p:cNvPr id="3" name="Shape 1"/>
          <p:cNvSpPr/>
          <p:nvPr/>
        </p:nvSpPr>
        <p:spPr>
          <a:xfrm>
            <a:off x="137160" y="4983480"/>
            <a:ext cx="1920240" cy="1920240"/>
          </a:xfrm>
          <a:prstGeom prst="ellipse">
            <a:avLst/>
          </a:prstGeom>
          <a:ln w="15875">
            <a:solidFill>
              <a:srgbClr val="3D6FA5">
                <a:alpha val="55000"/>
              </a:srgbClr>
            </a:solidFill>
            <a:prstDash val="solid"/>
          </a:ln>
        </p:spPr>
      </p:sp>
      <p:sp>
        <p:nvSpPr>
          <p:cNvPr id="4" name="Shape 2"/>
          <p:cNvSpPr/>
          <p:nvPr/>
        </p:nvSpPr>
        <p:spPr>
          <a:xfrm>
            <a:off x="548640" y="5394960"/>
            <a:ext cx="1097280" cy="1097280"/>
          </a:xfrm>
          <a:prstGeom prst="ellipse">
            <a:avLst/>
          </a:prstGeom>
          <a:ln w="15875">
            <a:solidFill>
              <a:srgbClr val="3D6FA5">
                <a:alpha val="55000"/>
              </a:srgbClr>
            </a:solidFill>
            <a:prstDash val="solid"/>
          </a:ln>
        </p:spPr>
      </p:sp>
      <p:sp>
        <p:nvSpPr>
          <p:cNvPr id="5" name="Shape 3"/>
          <p:cNvSpPr/>
          <p:nvPr/>
        </p:nvSpPr>
        <p:spPr>
          <a:xfrm>
            <a:off x="5166360" y="1737360"/>
            <a:ext cx="1828800" cy="1828800"/>
          </a:xfrm>
          <a:prstGeom prst="ellipse">
            <a:avLst/>
          </a:prstGeom>
          <a:solidFill>
            <a:srgbClr val="3D6FA5"/>
          </a:solidFill>
          <a:ln/>
        </p:spPr>
      </p:sp>
      <p:pic>
        <p:nvPicPr>
          <p:cNvPr id="6" name="Image 0" descr="icons/handshake.png">    </p:cNvPr>
          <p:cNvPicPr>
            <a:picLocks noChangeAspect="1"/>
          </p:cNvPicPr>
          <p:nvPr/>
        </p:nvPicPr>
        <p:blipFill>
          <a:blip r:embed="rId1"/>
          <a:stretch>
            <a:fillRect/>
          </a:stretch>
        </p:blipFill>
        <p:spPr>
          <a:xfrm>
            <a:off x="5623560" y="2194560"/>
            <a:ext cx="914400" cy="914400"/>
          </a:xfrm>
          <a:prstGeom prst="rect">
            <a:avLst/>
          </a:prstGeom>
        </p:spPr>
      </p:pic>
      <p:sp>
        <p:nvSpPr>
          <p:cNvPr id="7" name="Text 4"/>
          <p:cNvSpPr/>
          <p:nvPr/>
        </p:nvSpPr>
        <p:spPr>
          <a:xfrm>
            <a:off x="822960" y="3931920"/>
            <a:ext cx="10515600" cy="82296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Merci de votre attention</a:t>
            </a:r>
            <a:endParaRPr lang="en-US" sz="3600" dirty="0"/>
          </a:p>
        </p:txBody>
      </p:sp>
      <p:sp>
        <p:nvSpPr>
          <p:cNvPr id="8" name="Text 5"/>
          <p:cNvSpPr/>
          <p:nvPr/>
        </p:nvSpPr>
        <p:spPr>
          <a:xfrm>
            <a:off x="822960" y="4709160"/>
            <a:ext cx="10515600" cy="548640"/>
          </a:xfrm>
          <a:prstGeom prst="rect">
            <a:avLst/>
          </a:prstGeom>
          <a:noFill/>
          <a:ln/>
        </p:spPr>
        <p:txBody>
          <a:bodyPr wrap="square" rtlCol="0" anchor="ctr"/>
          <a:lstStyle/>
          <a:p>
            <a:pPr algn="ctr" indent="0" marL="0">
              <a:buNone/>
            </a:pPr>
            <a:r>
              <a:rPr lang="en-US" sz="2000" dirty="0">
                <a:solidFill>
                  <a:srgbClr val="DCE7F2"/>
                </a:solidFill>
                <a:latin typeface="Calibri" pitchFamily="34" charset="0"/>
                <a:ea typeface="Calibri" pitchFamily="34" charset="-122"/>
                <a:cs typeface="Calibri" pitchFamily="34" charset="-120"/>
              </a:rPr>
              <a:t>Questions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Master Data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Projet Lerouge Moulin</dc:creator>
  <cp:lastModifiedBy>Projet Lerouge Moulin</cp:lastModifiedBy>
  <cp:revision>1</cp:revision>
  <dcterms:created xsi:type="dcterms:W3CDTF">2026-07-31T04:44:46Z</dcterms:created>
  <dcterms:modified xsi:type="dcterms:W3CDTF">2026-07-31T04:44:46Z</dcterms:modified>
</cp:coreProperties>
</file>